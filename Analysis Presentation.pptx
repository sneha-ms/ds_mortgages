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Lst>
  <p:sldSz cy="5143500" cx="9144000"/>
  <p:notesSz cx="6858000" cy="9144000"/>
  <p:embeddedFontLst>
    <p:embeddedFont>
      <p:font typeface="Roboto"/>
      <p:regular r:id="rId13"/>
      <p:bold r:id="rId14"/>
      <p:italic r:id="rId15"/>
      <p:boldItalic r:id="rId16"/>
    </p:embeddedFont>
    <p:embeddedFont>
      <p:font typeface="Fira Sans Extra Condensed"/>
      <p:regular r:id="rId17"/>
      <p:bold r:id="rId18"/>
      <p:italic r:id="rId19"/>
      <p:boldItalic r:id="rId20"/>
    </p:embeddedFont>
    <p:embeddedFont>
      <p:font typeface="Fira Sans Extra Condensed SemiBold"/>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FiraSansExtraCondensed-boldItalic.fntdata"/><Relationship Id="rId11" Type="http://schemas.openxmlformats.org/officeDocument/2006/relationships/slide" Target="slides/slide7.xml"/><Relationship Id="rId22" Type="http://schemas.openxmlformats.org/officeDocument/2006/relationships/font" Target="fonts/FiraSansExtraCondensedSemiBold-bold.fntdata"/><Relationship Id="rId10" Type="http://schemas.openxmlformats.org/officeDocument/2006/relationships/slide" Target="slides/slide6.xml"/><Relationship Id="rId21" Type="http://schemas.openxmlformats.org/officeDocument/2006/relationships/font" Target="fonts/FiraSansExtraCondensedSemiBold-regular.fntdata"/><Relationship Id="rId13" Type="http://schemas.openxmlformats.org/officeDocument/2006/relationships/font" Target="fonts/Roboto-regular.fntdata"/><Relationship Id="rId24" Type="http://schemas.openxmlformats.org/officeDocument/2006/relationships/font" Target="fonts/FiraSansExtraCondensedSemiBold-boldItalic.fntdata"/><Relationship Id="rId12" Type="http://schemas.openxmlformats.org/officeDocument/2006/relationships/slide" Target="slides/slide8.xml"/><Relationship Id="rId23" Type="http://schemas.openxmlformats.org/officeDocument/2006/relationships/font" Target="fonts/FiraSansExtraCondensedSemi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Roboto-italic.fntdata"/><Relationship Id="rId14" Type="http://schemas.openxmlformats.org/officeDocument/2006/relationships/font" Target="fonts/Roboto-bold.fntdata"/><Relationship Id="rId17" Type="http://schemas.openxmlformats.org/officeDocument/2006/relationships/font" Target="fonts/FiraSansExtraCondensed-regular.fntdata"/><Relationship Id="rId16" Type="http://schemas.openxmlformats.org/officeDocument/2006/relationships/font" Target="fonts/Roboto-boldItalic.fntdata"/><Relationship Id="rId5" Type="http://schemas.openxmlformats.org/officeDocument/2006/relationships/slide" Target="slides/slide1.xml"/><Relationship Id="rId19" Type="http://schemas.openxmlformats.org/officeDocument/2006/relationships/font" Target="fonts/FiraSansExtraCondensed-italic.fntdata"/><Relationship Id="rId6" Type="http://schemas.openxmlformats.org/officeDocument/2006/relationships/slide" Target="slides/slide2.xml"/><Relationship Id="rId18" Type="http://schemas.openxmlformats.org/officeDocument/2006/relationships/font" Target="fonts/FiraSansExtraCondensed-bold.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g26e0de43ac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 name="Google Shape;40;g26e0de43ac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26e0de43ace_0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26e0de43ace_0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e96fd5876e_0_14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e96fd5876e_0_14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e96fd5876e_0_4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e96fd5876e_0_4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6e0de43ace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6e0de43ace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26e0de43ace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26e0de43ace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6e0de43ace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26e0de43ace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first important factor is Age of property that is used to predict the FTR. We can separate the application files to different review teams based on higher age of property or lower. This could improve the processes and make the process faster.</a:t>
            </a:r>
            <a:endParaRPr/>
          </a:p>
          <a:p>
            <a:pPr indent="0" lvl="0" marL="0" rtl="0" algn="l">
              <a:spcBef>
                <a:spcPts val="0"/>
              </a:spcBef>
              <a:spcAft>
                <a:spcPts val="0"/>
              </a:spcAft>
              <a:buNone/>
            </a:pPr>
            <a:r>
              <a:rPr lang="en"/>
              <a:t>Application method acts as a second important factor i.e. separating the files coming from Branch and App (web app) will be useful in optimized operations.</a:t>
            </a:r>
            <a:endParaRPr/>
          </a:p>
          <a:p>
            <a:pPr indent="0" lvl="0" marL="0" rtl="0" algn="l">
              <a:spcBef>
                <a:spcPts val="0"/>
              </a:spcBef>
              <a:spcAft>
                <a:spcPts val="0"/>
              </a:spcAft>
              <a:buNone/>
            </a:pPr>
            <a:r>
              <a:rPr lang="en"/>
              <a:t>To </a:t>
            </a:r>
            <a:r>
              <a:rPr lang="en"/>
              <a:t>accommodate</a:t>
            </a:r>
            <a:r>
              <a:rPr lang="en"/>
              <a:t> review of applications by different departments and teams either we can train the existing staff or hire more staff. We can also change the time-shifts of the existing staff in an optimised manner.</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6e0de43ace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26e0de43ace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5140950" y="1074150"/>
            <a:ext cx="3545700" cy="2488800"/>
          </a:xfrm>
          <a:prstGeom prst="rect">
            <a:avLst/>
          </a:prstGeom>
        </p:spPr>
        <p:txBody>
          <a:bodyPr anchorCtr="0" anchor="t" bIns="91425" lIns="91425" spcFirstLastPara="1" rIns="91425" wrap="square" tIns="91425">
            <a:normAutofit/>
          </a:bodyPr>
          <a:lstStyle>
            <a:lvl1pPr lvl="0" algn="r">
              <a:spcBef>
                <a:spcPts val="0"/>
              </a:spcBef>
              <a:spcAft>
                <a:spcPts val="0"/>
              </a:spcAft>
              <a:buSzPts val="5200"/>
              <a:buNone/>
              <a:defRPr b="0" sz="5000">
                <a:latin typeface="Fira Sans Extra Condensed SemiBold"/>
                <a:ea typeface="Fira Sans Extra Condensed SemiBold"/>
                <a:cs typeface="Fira Sans Extra Condensed SemiBold"/>
                <a:sym typeface="Fira Sans Extra Condensed SemiBold"/>
              </a:defRPr>
            </a:lvl1pPr>
            <a:lvl2pPr lvl="1">
              <a:spcBef>
                <a:spcPts val="0"/>
              </a:spcBef>
              <a:spcAft>
                <a:spcPts val="0"/>
              </a:spcAft>
              <a:buSzPts val="5200"/>
              <a:buNone/>
              <a:defRPr sz="5200"/>
            </a:lvl2pPr>
            <a:lvl3pPr lvl="2">
              <a:spcBef>
                <a:spcPts val="0"/>
              </a:spcBef>
              <a:spcAft>
                <a:spcPts val="0"/>
              </a:spcAft>
              <a:buSzPts val="5200"/>
              <a:buNone/>
              <a:defRPr sz="5200"/>
            </a:lvl3pPr>
            <a:lvl4pPr lvl="3">
              <a:spcBef>
                <a:spcPts val="0"/>
              </a:spcBef>
              <a:spcAft>
                <a:spcPts val="0"/>
              </a:spcAft>
              <a:buSzPts val="5200"/>
              <a:buNone/>
              <a:defRPr sz="5200"/>
            </a:lvl4pPr>
            <a:lvl5pPr lvl="4">
              <a:spcBef>
                <a:spcPts val="0"/>
              </a:spcBef>
              <a:spcAft>
                <a:spcPts val="0"/>
              </a:spcAft>
              <a:buSzPts val="5200"/>
              <a:buNone/>
              <a:defRPr sz="5200"/>
            </a:lvl5pPr>
            <a:lvl6pPr lvl="5">
              <a:spcBef>
                <a:spcPts val="0"/>
              </a:spcBef>
              <a:spcAft>
                <a:spcPts val="0"/>
              </a:spcAft>
              <a:buSzPts val="5200"/>
              <a:buNone/>
              <a:defRPr sz="5200"/>
            </a:lvl6pPr>
            <a:lvl7pPr lvl="6">
              <a:spcBef>
                <a:spcPts val="0"/>
              </a:spcBef>
              <a:spcAft>
                <a:spcPts val="0"/>
              </a:spcAft>
              <a:buSzPts val="5200"/>
              <a:buNone/>
              <a:defRPr sz="5200"/>
            </a:lvl7pPr>
            <a:lvl8pPr lvl="7">
              <a:spcBef>
                <a:spcPts val="0"/>
              </a:spcBef>
              <a:spcAft>
                <a:spcPts val="0"/>
              </a:spcAft>
              <a:buSzPts val="5200"/>
              <a:buNone/>
              <a:defRPr sz="5200"/>
            </a:lvl8pPr>
            <a:lvl9pPr lvl="8">
              <a:spcBef>
                <a:spcPts val="0"/>
              </a:spcBef>
              <a:spcAft>
                <a:spcPts val="0"/>
              </a:spcAft>
              <a:buSzPts val="5200"/>
              <a:buNone/>
              <a:defRPr sz="5200"/>
            </a:lvl9pPr>
          </a:lstStyle>
          <a:p/>
        </p:txBody>
      </p:sp>
      <p:sp>
        <p:nvSpPr>
          <p:cNvPr id="10" name="Google Shape;10;p2"/>
          <p:cNvSpPr txBox="1"/>
          <p:nvPr>
            <p:ph idx="1" type="subTitle"/>
          </p:nvPr>
        </p:nvSpPr>
        <p:spPr>
          <a:xfrm>
            <a:off x="6105525" y="3562950"/>
            <a:ext cx="2581200" cy="711000"/>
          </a:xfrm>
          <a:prstGeom prst="rect">
            <a:avLst/>
          </a:prstGeom>
        </p:spPr>
        <p:txBody>
          <a:bodyPr anchorCtr="0" anchor="t" bIns="91425" lIns="91425" spcFirstLastPara="1" rIns="91425" wrap="square" tIns="91425">
            <a:normAutofit/>
          </a:bodyPr>
          <a:lstStyle>
            <a:lvl1pPr lvl="0" algn="r">
              <a:lnSpc>
                <a:spcPct val="100000"/>
              </a:lnSpc>
              <a:spcBef>
                <a:spcPts val="0"/>
              </a:spcBef>
              <a:spcAft>
                <a:spcPts val="0"/>
              </a:spcAft>
              <a:buSzPts val="2800"/>
              <a:buNone/>
              <a:defRPr sz="1800"/>
            </a:lvl1pPr>
            <a:lvl2pPr lvl="1">
              <a:lnSpc>
                <a:spcPct val="100000"/>
              </a:lnSpc>
              <a:spcBef>
                <a:spcPts val="0"/>
              </a:spcBef>
              <a:spcAft>
                <a:spcPts val="0"/>
              </a:spcAft>
              <a:buSzPts val="2800"/>
              <a:buNone/>
              <a:defRPr sz="2800"/>
            </a:lvl2pPr>
            <a:lvl3pPr lvl="2">
              <a:lnSpc>
                <a:spcPct val="100000"/>
              </a:lnSpc>
              <a:spcBef>
                <a:spcPts val="0"/>
              </a:spcBef>
              <a:spcAft>
                <a:spcPts val="0"/>
              </a:spcAft>
              <a:buSzPts val="2800"/>
              <a:buNone/>
              <a:defRPr sz="2800"/>
            </a:lvl3pPr>
            <a:lvl4pPr lvl="3">
              <a:lnSpc>
                <a:spcPct val="100000"/>
              </a:lnSpc>
              <a:spcBef>
                <a:spcPts val="0"/>
              </a:spcBef>
              <a:spcAft>
                <a:spcPts val="0"/>
              </a:spcAft>
              <a:buSzPts val="2800"/>
              <a:buNone/>
              <a:defRPr sz="2800"/>
            </a:lvl4pPr>
            <a:lvl5pPr lvl="4">
              <a:lnSpc>
                <a:spcPct val="100000"/>
              </a:lnSpc>
              <a:spcBef>
                <a:spcPts val="0"/>
              </a:spcBef>
              <a:spcAft>
                <a:spcPts val="0"/>
              </a:spcAft>
              <a:buSzPts val="2800"/>
              <a:buNone/>
              <a:defRPr sz="2800"/>
            </a:lvl5pPr>
            <a:lvl6pPr lvl="5">
              <a:lnSpc>
                <a:spcPct val="100000"/>
              </a:lnSpc>
              <a:spcBef>
                <a:spcPts val="0"/>
              </a:spcBef>
              <a:spcAft>
                <a:spcPts val="0"/>
              </a:spcAft>
              <a:buSzPts val="2800"/>
              <a:buNone/>
              <a:defRPr sz="2800"/>
            </a:lvl6pPr>
            <a:lvl7pPr lvl="6">
              <a:lnSpc>
                <a:spcPct val="100000"/>
              </a:lnSpc>
              <a:spcBef>
                <a:spcPts val="0"/>
              </a:spcBef>
              <a:spcAft>
                <a:spcPts val="0"/>
              </a:spcAft>
              <a:buSzPts val="2800"/>
              <a:buNone/>
              <a:defRPr sz="2800"/>
            </a:lvl7pPr>
            <a:lvl8pPr lvl="7">
              <a:lnSpc>
                <a:spcPct val="100000"/>
              </a:lnSpc>
              <a:spcBef>
                <a:spcPts val="0"/>
              </a:spcBef>
              <a:spcAft>
                <a:spcPts val="0"/>
              </a:spcAft>
              <a:buSzPts val="2800"/>
              <a:buNone/>
              <a:defRPr sz="2800"/>
            </a:lvl8pPr>
            <a:lvl9pPr lvl="8">
              <a:lnSpc>
                <a:spcPct val="100000"/>
              </a:lnSpc>
              <a:spcBef>
                <a:spcPts val="0"/>
              </a:spcBef>
              <a:spcAft>
                <a:spcPts val="0"/>
              </a:spcAft>
              <a:buSzPts val="2800"/>
              <a:buNone/>
              <a:defRPr sz="2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sp>
        <p:nvSpPr>
          <p:cNvPr id="12" name="Google Shape;12;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txBox="1"/>
          <p:nvPr>
            <p:ph type="title"/>
          </p:nvPr>
        </p:nvSpPr>
        <p:spPr>
          <a:xfrm>
            <a:off x="457200" y="411475"/>
            <a:ext cx="8229600" cy="3714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2800"/>
              <a:buNone/>
              <a:defRPr b="1"/>
            </a:lvl1pPr>
            <a:lvl2pPr lvl="1">
              <a:spcBef>
                <a:spcPts val="0"/>
              </a:spcBef>
              <a:spcAft>
                <a:spcPts val="0"/>
              </a:spcAft>
              <a:buSzPts val="2800"/>
              <a:buNone/>
              <a:defRPr b="1"/>
            </a:lvl2pPr>
            <a:lvl3pPr lvl="2">
              <a:spcBef>
                <a:spcPts val="0"/>
              </a:spcBef>
              <a:spcAft>
                <a:spcPts val="0"/>
              </a:spcAft>
              <a:buSzPts val="2800"/>
              <a:buNone/>
              <a:defRPr b="1"/>
            </a:lvl3pPr>
            <a:lvl4pPr lvl="3">
              <a:spcBef>
                <a:spcPts val="0"/>
              </a:spcBef>
              <a:spcAft>
                <a:spcPts val="0"/>
              </a:spcAft>
              <a:buSzPts val="2800"/>
              <a:buNone/>
              <a:defRPr b="1"/>
            </a:lvl4pPr>
            <a:lvl5pPr lvl="4">
              <a:spcBef>
                <a:spcPts val="0"/>
              </a:spcBef>
              <a:spcAft>
                <a:spcPts val="0"/>
              </a:spcAft>
              <a:buSzPts val="2800"/>
              <a:buNone/>
              <a:defRPr b="1"/>
            </a:lvl5pPr>
            <a:lvl6pPr lvl="5">
              <a:spcBef>
                <a:spcPts val="0"/>
              </a:spcBef>
              <a:spcAft>
                <a:spcPts val="0"/>
              </a:spcAft>
              <a:buSzPts val="2800"/>
              <a:buNone/>
              <a:defRPr b="1"/>
            </a:lvl6pPr>
            <a:lvl7pPr lvl="6">
              <a:spcBef>
                <a:spcPts val="0"/>
              </a:spcBef>
              <a:spcAft>
                <a:spcPts val="0"/>
              </a:spcAft>
              <a:buSzPts val="2800"/>
              <a:buNone/>
              <a:defRPr b="1"/>
            </a:lvl7pPr>
            <a:lvl8pPr lvl="7">
              <a:spcBef>
                <a:spcPts val="0"/>
              </a:spcBef>
              <a:spcAft>
                <a:spcPts val="0"/>
              </a:spcAft>
              <a:buSzPts val="2800"/>
              <a:buNone/>
              <a:defRPr b="1"/>
            </a:lvl8pPr>
            <a:lvl9pPr lvl="8">
              <a:spcBef>
                <a:spcPts val="0"/>
              </a:spcBef>
              <a:spcAft>
                <a:spcPts val="0"/>
              </a:spcAft>
              <a:buSzPts val="2800"/>
              <a:buNone/>
              <a:defRPr b="1"/>
            </a:lvl9pPr>
          </a:lstStyle>
          <a:p/>
        </p:txBody>
      </p:sp>
      <p:sp>
        <p:nvSpPr>
          <p:cNvPr id="15" name="Google Shape;15;p4"/>
          <p:cNvSpPr txBox="1"/>
          <p:nvPr>
            <p:ph idx="1" type="body"/>
          </p:nvPr>
        </p:nvSpPr>
        <p:spPr>
          <a:xfrm>
            <a:off x="457200" y="1247950"/>
            <a:ext cx="8229600" cy="30291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6" name="Shape 16"/>
        <p:cNvGrpSpPr/>
        <p:nvPr/>
      </p:nvGrpSpPr>
      <p:grpSpPr>
        <a:xfrm>
          <a:off x="0" y="0"/>
          <a:ext cx="0" cy="0"/>
          <a:chOff x="0" y="0"/>
          <a:chExt cx="0" cy="0"/>
        </a:xfrm>
      </p:grpSpPr>
      <p:sp>
        <p:nvSpPr>
          <p:cNvPr id="17" name="Google Shape;17;p5"/>
          <p:cNvSpPr txBox="1"/>
          <p:nvPr>
            <p:ph type="title"/>
          </p:nvPr>
        </p:nvSpPr>
        <p:spPr>
          <a:xfrm>
            <a:off x="457200" y="411475"/>
            <a:ext cx="8229600" cy="3714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9" name="Google Shape;19;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0" name="Shape 20"/>
        <p:cNvGrpSpPr/>
        <p:nvPr/>
      </p:nvGrpSpPr>
      <p:grpSpPr>
        <a:xfrm>
          <a:off x="0" y="0"/>
          <a:ext cx="0" cy="0"/>
          <a:chOff x="0" y="0"/>
          <a:chExt cx="0" cy="0"/>
        </a:xfrm>
      </p:grpSpPr>
      <p:sp>
        <p:nvSpPr>
          <p:cNvPr id="21" name="Google Shape;21;p6"/>
          <p:cNvSpPr txBox="1"/>
          <p:nvPr>
            <p:ph type="title"/>
          </p:nvPr>
        </p:nvSpPr>
        <p:spPr>
          <a:xfrm>
            <a:off x="457200" y="411475"/>
            <a:ext cx="8229600" cy="3714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2" name="Shape 22"/>
        <p:cNvGrpSpPr/>
        <p:nvPr/>
      </p:nvGrpSpPr>
      <p:grpSpPr>
        <a:xfrm>
          <a:off x="0" y="0"/>
          <a:ext cx="0" cy="0"/>
          <a:chOff x="0" y="0"/>
          <a:chExt cx="0" cy="0"/>
        </a:xfrm>
      </p:grpSpPr>
      <p:sp>
        <p:nvSpPr>
          <p:cNvPr id="23" name="Google Shape;2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4" name="Google Shape;2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5" name="Shape 25"/>
        <p:cNvGrpSpPr/>
        <p:nvPr/>
      </p:nvGrpSpPr>
      <p:grpSpPr>
        <a:xfrm>
          <a:off x="0" y="0"/>
          <a:ext cx="0" cy="0"/>
          <a:chOff x="0" y="0"/>
          <a:chExt cx="0" cy="0"/>
        </a:xfrm>
      </p:grpSpPr>
      <p:sp>
        <p:nvSpPr>
          <p:cNvPr id="26" name="Google Shape;26;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7" name="Shape 27"/>
        <p:cNvGrpSpPr/>
        <p:nvPr/>
      </p:nvGrpSpPr>
      <p:grpSpPr>
        <a:xfrm>
          <a:off x="0" y="0"/>
          <a:ext cx="0" cy="0"/>
          <a:chOff x="0" y="0"/>
          <a:chExt cx="0" cy="0"/>
        </a:xfrm>
      </p:grpSpPr>
      <p:sp>
        <p:nvSpPr>
          <p:cNvPr id="28" name="Google Shape;28;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0" name="Google Shape;30;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1" name="Google Shape;31;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2" name="Shape 32"/>
        <p:cNvGrpSpPr/>
        <p:nvPr/>
      </p:nvGrpSpPr>
      <p:grpSpPr>
        <a:xfrm>
          <a:off x="0" y="0"/>
          <a:ext cx="0" cy="0"/>
          <a:chOff x="0" y="0"/>
          <a:chExt cx="0" cy="0"/>
        </a:xfrm>
      </p:grpSpPr>
      <p:sp>
        <p:nvSpPr>
          <p:cNvPr id="33" name="Google Shape;33;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400"/>
              <a:buNone/>
              <a:defRPr/>
            </a:lvl1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4" name="Shape 34"/>
        <p:cNvGrpSpPr/>
        <p:nvPr/>
      </p:nvGrpSpPr>
      <p:grpSpPr>
        <a:xfrm>
          <a:off x="0" y="0"/>
          <a:ext cx="0" cy="0"/>
          <a:chOff x="0" y="0"/>
          <a:chExt cx="0" cy="0"/>
        </a:xfrm>
      </p:grpSpPr>
      <p:sp>
        <p:nvSpPr>
          <p:cNvPr id="35" name="Google Shape;3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6" name="Google Shape;3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17500" lvl="0" marL="457200" algn="ctr">
              <a:spcBef>
                <a:spcPts val="0"/>
              </a:spcBef>
              <a:spcAft>
                <a:spcPts val="0"/>
              </a:spcAft>
              <a:buSzPts val="14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7" name="Shape 3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411475"/>
            <a:ext cx="8229600" cy="371400"/>
          </a:xfrm>
          <a:prstGeom prst="rect">
            <a:avLst/>
          </a:prstGeom>
          <a:noFill/>
          <a:ln>
            <a:noFill/>
          </a:ln>
        </p:spPr>
        <p:txBody>
          <a:bodyPr anchorCtr="0" anchor="ctr" bIns="91425" lIns="91425" spcFirstLastPara="1" rIns="91425" wrap="square" tIns="91425">
            <a:normAutofit/>
          </a:bodyPr>
          <a:lstStyle>
            <a:lvl1pPr lvl="0" rtl="0">
              <a:spcBef>
                <a:spcPts val="0"/>
              </a:spcBef>
              <a:spcAft>
                <a:spcPts val="0"/>
              </a:spcAft>
              <a:buClr>
                <a:schemeClr val="dk1"/>
              </a:buClr>
              <a:buSzPts val="2800"/>
              <a:buFont typeface="Fira Sans Extra Condensed"/>
              <a:buNone/>
              <a:defRPr b="1" sz="2800">
                <a:solidFill>
                  <a:schemeClr val="dk1"/>
                </a:solidFill>
                <a:latin typeface="Fira Sans Extra Condensed"/>
                <a:ea typeface="Fira Sans Extra Condensed"/>
                <a:cs typeface="Fira Sans Extra Condensed"/>
                <a:sym typeface="Fira Sans Extra Condensed"/>
              </a:defRPr>
            </a:lvl1pPr>
            <a:lvl2pPr lvl="1" rtl="0">
              <a:spcBef>
                <a:spcPts val="0"/>
              </a:spcBef>
              <a:spcAft>
                <a:spcPts val="0"/>
              </a:spcAft>
              <a:buClr>
                <a:schemeClr val="dk1"/>
              </a:buClr>
              <a:buSzPts val="2800"/>
              <a:buFont typeface="Fira Sans Extra Condensed"/>
              <a:buNone/>
              <a:defRPr b="1" sz="2800">
                <a:solidFill>
                  <a:schemeClr val="dk1"/>
                </a:solidFill>
                <a:latin typeface="Fira Sans Extra Condensed"/>
                <a:ea typeface="Fira Sans Extra Condensed"/>
                <a:cs typeface="Fira Sans Extra Condensed"/>
                <a:sym typeface="Fira Sans Extra Condensed"/>
              </a:defRPr>
            </a:lvl2pPr>
            <a:lvl3pPr lvl="2" rtl="0">
              <a:spcBef>
                <a:spcPts val="0"/>
              </a:spcBef>
              <a:spcAft>
                <a:spcPts val="0"/>
              </a:spcAft>
              <a:buClr>
                <a:schemeClr val="dk1"/>
              </a:buClr>
              <a:buSzPts val="2800"/>
              <a:buFont typeface="Fira Sans Extra Condensed"/>
              <a:buNone/>
              <a:defRPr b="1" sz="2800">
                <a:solidFill>
                  <a:schemeClr val="dk1"/>
                </a:solidFill>
                <a:latin typeface="Fira Sans Extra Condensed"/>
                <a:ea typeface="Fira Sans Extra Condensed"/>
                <a:cs typeface="Fira Sans Extra Condensed"/>
                <a:sym typeface="Fira Sans Extra Condensed"/>
              </a:defRPr>
            </a:lvl3pPr>
            <a:lvl4pPr lvl="3" rtl="0">
              <a:spcBef>
                <a:spcPts val="0"/>
              </a:spcBef>
              <a:spcAft>
                <a:spcPts val="0"/>
              </a:spcAft>
              <a:buClr>
                <a:schemeClr val="dk1"/>
              </a:buClr>
              <a:buSzPts val="2800"/>
              <a:buFont typeface="Fira Sans Extra Condensed"/>
              <a:buNone/>
              <a:defRPr b="1" sz="2800">
                <a:solidFill>
                  <a:schemeClr val="dk1"/>
                </a:solidFill>
                <a:latin typeface="Fira Sans Extra Condensed"/>
                <a:ea typeface="Fira Sans Extra Condensed"/>
                <a:cs typeface="Fira Sans Extra Condensed"/>
                <a:sym typeface="Fira Sans Extra Condensed"/>
              </a:defRPr>
            </a:lvl4pPr>
            <a:lvl5pPr lvl="4" rtl="0">
              <a:spcBef>
                <a:spcPts val="0"/>
              </a:spcBef>
              <a:spcAft>
                <a:spcPts val="0"/>
              </a:spcAft>
              <a:buClr>
                <a:schemeClr val="dk1"/>
              </a:buClr>
              <a:buSzPts val="2800"/>
              <a:buFont typeface="Fira Sans Extra Condensed"/>
              <a:buNone/>
              <a:defRPr b="1" sz="2800">
                <a:solidFill>
                  <a:schemeClr val="dk1"/>
                </a:solidFill>
                <a:latin typeface="Fira Sans Extra Condensed"/>
                <a:ea typeface="Fira Sans Extra Condensed"/>
                <a:cs typeface="Fira Sans Extra Condensed"/>
                <a:sym typeface="Fira Sans Extra Condensed"/>
              </a:defRPr>
            </a:lvl5pPr>
            <a:lvl6pPr lvl="5" rtl="0">
              <a:spcBef>
                <a:spcPts val="0"/>
              </a:spcBef>
              <a:spcAft>
                <a:spcPts val="0"/>
              </a:spcAft>
              <a:buClr>
                <a:schemeClr val="dk1"/>
              </a:buClr>
              <a:buSzPts val="2800"/>
              <a:buFont typeface="Fira Sans Extra Condensed"/>
              <a:buNone/>
              <a:defRPr b="1" sz="2800">
                <a:solidFill>
                  <a:schemeClr val="dk1"/>
                </a:solidFill>
                <a:latin typeface="Fira Sans Extra Condensed"/>
                <a:ea typeface="Fira Sans Extra Condensed"/>
                <a:cs typeface="Fira Sans Extra Condensed"/>
                <a:sym typeface="Fira Sans Extra Condensed"/>
              </a:defRPr>
            </a:lvl6pPr>
            <a:lvl7pPr lvl="6" rtl="0">
              <a:spcBef>
                <a:spcPts val="0"/>
              </a:spcBef>
              <a:spcAft>
                <a:spcPts val="0"/>
              </a:spcAft>
              <a:buClr>
                <a:schemeClr val="dk1"/>
              </a:buClr>
              <a:buSzPts val="2800"/>
              <a:buFont typeface="Fira Sans Extra Condensed"/>
              <a:buNone/>
              <a:defRPr b="1" sz="2800">
                <a:solidFill>
                  <a:schemeClr val="dk1"/>
                </a:solidFill>
                <a:latin typeface="Fira Sans Extra Condensed"/>
                <a:ea typeface="Fira Sans Extra Condensed"/>
                <a:cs typeface="Fira Sans Extra Condensed"/>
                <a:sym typeface="Fira Sans Extra Condensed"/>
              </a:defRPr>
            </a:lvl7pPr>
            <a:lvl8pPr lvl="7" rtl="0">
              <a:spcBef>
                <a:spcPts val="0"/>
              </a:spcBef>
              <a:spcAft>
                <a:spcPts val="0"/>
              </a:spcAft>
              <a:buClr>
                <a:schemeClr val="dk1"/>
              </a:buClr>
              <a:buSzPts val="2800"/>
              <a:buFont typeface="Fira Sans Extra Condensed"/>
              <a:buNone/>
              <a:defRPr b="1" sz="2800">
                <a:solidFill>
                  <a:schemeClr val="dk1"/>
                </a:solidFill>
                <a:latin typeface="Fira Sans Extra Condensed"/>
                <a:ea typeface="Fira Sans Extra Condensed"/>
                <a:cs typeface="Fira Sans Extra Condensed"/>
                <a:sym typeface="Fira Sans Extra Condensed"/>
              </a:defRPr>
            </a:lvl8pPr>
            <a:lvl9pPr lvl="8" rtl="0">
              <a:spcBef>
                <a:spcPts val="0"/>
              </a:spcBef>
              <a:spcAft>
                <a:spcPts val="0"/>
              </a:spcAft>
              <a:buClr>
                <a:schemeClr val="dk1"/>
              </a:buClr>
              <a:buSzPts val="2800"/>
              <a:buFont typeface="Fira Sans Extra Condensed"/>
              <a:buNone/>
              <a:defRPr b="1" sz="2800">
                <a:solidFill>
                  <a:schemeClr val="dk1"/>
                </a:solidFill>
                <a:latin typeface="Fira Sans Extra Condensed"/>
                <a:ea typeface="Fira Sans Extra Condensed"/>
                <a:cs typeface="Fira Sans Extra Condensed"/>
                <a:sym typeface="Fira Sans Extra Condensed"/>
              </a:defRPr>
            </a:lvl9pPr>
          </a:lstStyle>
          <a:p/>
        </p:txBody>
      </p:sp>
      <p:sp>
        <p:nvSpPr>
          <p:cNvPr id="7" name="Google Shape;7;p1"/>
          <p:cNvSpPr txBox="1"/>
          <p:nvPr>
            <p:ph idx="1" type="body"/>
          </p:nvPr>
        </p:nvSpPr>
        <p:spPr>
          <a:xfrm>
            <a:off x="457200" y="1152475"/>
            <a:ext cx="8229600" cy="3579600"/>
          </a:xfrm>
          <a:prstGeom prst="rect">
            <a:avLst/>
          </a:prstGeom>
          <a:noFill/>
          <a:ln>
            <a:noFill/>
          </a:ln>
        </p:spPr>
        <p:txBody>
          <a:bodyPr anchorCtr="0" anchor="t" bIns="91425" lIns="91425" spcFirstLastPara="1" rIns="91425" wrap="square" tIns="91425">
            <a:normAutofit/>
          </a:bodyPr>
          <a:lstStyle>
            <a:lvl1pPr indent="-317500" lvl="0" marL="4572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1pPr>
            <a:lvl2pPr indent="-317500" lvl="1" marL="9144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indent="-317500" lvl="2" marL="13716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indent="-317500" lvl="3" marL="18288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indent="-317500" lvl="4" marL="22860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indent="-317500" lvl="5" marL="27432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indent="-317500" lvl="6" marL="32004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indent="-317500" lvl="7" marL="36576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indent="-317500" lvl="8" marL="41148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13.png"/><Relationship Id="rId5"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9.png"/><Relationship Id="rId5"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 name="Shape 41"/>
        <p:cNvGrpSpPr/>
        <p:nvPr/>
      </p:nvGrpSpPr>
      <p:grpSpPr>
        <a:xfrm>
          <a:off x="0" y="0"/>
          <a:ext cx="0" cy="0"/>
          <a:chOff x="0" y="0"/>
          <a:chExt cx="0" cy="0"/>
        </a:xfrm>
      </p:grpSpPr>
      <p:sp>
        <p:nvSpPr>
          <p:cNvPr id="42" name="Google Shape;42;p13"/>
          <p:cNvSpPr txBox="1"/>
          <p:nvPr>
            <p:ph type="ctrTitle"/>
          </p:nvPr>
        </p:nvSpPr>
        <p:spPr>
          <a:xfrm>
            <a:off x="502500" y="527025"/>
            <a:ext cx="4154700" cy="2331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Mortgage Approval Time Analysis</a:t>
            </a:r>
            <a:endParaRPr/>
          </a:p>
        </p:txBody>
      </p:sp>
      <p:sp>
        <p:nvSpPr>
          <p:cNvPr id="43" name="Google Shape;43;p13"/>
          <p:cNvSpPr txBox="1"/>
          <p:nvPr>
            <p:ph idx="1" type="subTitle"/>
          </p:nvPr>
        </p:nvSpPr>
        <p:spPr>
          <a:xfrm>
            <a:off x="681675" y="3469150"/>
            <a:ext cx="3607200" cy="529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Sneha Arora</a:t>
            </a:r>
            <a:endParaRPr/>
          </a:p>
        </p:txBody>
      </p:sp>
      <p:sp>
        <p:nvSpPr>
          <p:cNvPr id="44" name="Google Shape;44;p13"/>
          <p:cNvSpPr/>
          <p:nvPr/>
        </p:nvSpPr>
        <p:spPr>
          <a:xfrm rot="5400000">
            <a:off x="7464244" y="3469259"/>
            <a:ext cx="692400" cy="692400"/>
          </a:xfrm>
          <a:prstGeom prst="ellipse">
            <a:avLst/>
          </a:prstGeom>
          <a:solidFill>
            <a:srgbClr val="FFFFFF"/>
          </a:solidFill>
          <a:ln cap="flat" cmpd="sng" w="28575">
            <a:solidFill>
              <a:schemeClr val="accent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b="1" sz="2100">
              <a:solidFill>
                <a:schemeClr val="accent1"/>
              </a:solidFill>
              <a:latin typeface="Fira Sans Extra Condensed"/>
              <a:ea typeface="Fira Sans Extra Condensed"/>
              <a:cs typeface="Fira Sans Extra Condensed"/>
              <a:sym typeface="Fira Sans Extra Condensed"/>
            </a:endParaRPr>
          </a:p>
        </p:txBody>
      </p:sp>
      <p:sp>
        <p:nvSpPr>
          <p:cNvPr id="45" name="Google Shape;45;p13"/>
          <p:cNvSpPr/>
          <p:nvPr/>
        </p:nvSpPr>
        <p:spPr>
          <a:xfrm rot="5400000">
            <a:off x="6633319" y="3469259"/>
            <a:ext cx="692400" cy="692400"/>
          </a:xfrm>
          <a:prstGeom prst="ellipse">
            <a:avLst/>
          </a:prstGeom>
          <a:solidFill>
            <a:srgbClr val="FFFFFF"/>
          </a:solidFill>
          <a:ln cap="flat" cmpd="sng" w="2857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b="1" sz="2100">
              <a:solidFill>
                <a:schemeClr val="accent2"/>
              </a:solidFill>
              <a:latin typeface="Fira Sans Extra Condensed"/>
              <a:ea typeface="Fira Sans Extra Condensed"/>
              <a:cs typeface="Fira Sans Extra Condensed"/>
              <a:sym typeface="Fira Sans Extra Condensed"/>
            </a:endParaRPr>
          </a:p>
        </p:txBody>
      </p:sp>
      <p:sp>
        <p:nvSpPr>
          <p:cNvPr id="46" name="Google Shape;46;p13"/>
          <p:cNvSpPr/>
          <p:nvPr/>
        </p:nvSpPr>
        <p:spPr>
          <a:xfrm rot="5400000">
            <a:off x="5802394" y="3469259"/>
            <a:ext cx="692400" cy="692400"/>
          </a:xfrm>
          <a:prstGeom prst="ellipse">
            <a:avLst/>
          </a:prstGeom>
          <a:solidFill>
            <a:srgbClr val="FFFFFF"/>
          </a:solidFill>
          <a:ln cap="flat" cmpd="sng" w="28575">
            <a:solidFill>
              <a:schemeClr val="accent3"/>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b="1" sz="2100">
              <a:solidFill>
                <a:schemeClr val="accent3"/>
              </a:solidFill>
              <a:latin typeface="Fira Sans Extra Condensed"/>
              <a:ea typeface="Fira Sans Extra Condensed"/>
              <a:cs typeface="Fira Sans Extra Condensed"/>
              <a:sym typeface="Fira Sans Extra Condensed"/>
            </a:endParaRPr>
          </a:p>
        </p:txBody>
      </p:sp>
      <p:sp>
        <p:nvSpPr>
          <p:cNvPr id="47" name="Google Shape;47;p13"/>
          <p:cNvSpPr/>
          <p:nvPr/>
        </p:nvSpPr>
        <p:spPr>
          <a:xfrm rot="5400000">
            <a:off x="4971469" y="3469259"/>
            <a:ext cx="692400" cy="692400"/>
          </a:xfrm>
          <a:prstGeom prst="ellipse">
            <a:avLst/>
          </a:prstGeom>
          <a:solidFill>
            <a:srgbClr val="FFFFFF"/>
          </a:solidFill>
          <a:ln cap="flat" cmpd="sng" w="2857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b="1" sz="2100">
              <a:solidFill>
                <a:schemeClr val="accent4"/>
              </a:solidFill>
              <a:latin typeface="Fira Sans Extra Condensed"/>
              <a:ea typeface="Fira Sans Extra Condensed"/>
              <a:cs typeface="Fira Sans Extra Condensed"/>
              <a:sym typeface="Fira Sans Extra Condensed"/>
            </a:endParaRPr>
          </a:p>
        </p:txBody>
      </p:sp>
      <p:sp>
        <p:nvSpPr>
          <p:cNvPr id="48" name="Google Shape;48;p13"/>
          <p:cNvSpPr/>
          <p:nvPr/>
        </p:nvSpPr>
        <p:spPr>
          <a:xfrm rot="5400000">
            <a:off x="5980990" y="962641"/>
            <a:ext cx="1230000" cy="1268400"/>
          </a:xfrm>
          <a:prstGeom prst="roundRect">
            <a:avLst>
              <a:gd fmla="val 50000" name="adj"/>
            </a:avLst>
          </a:prstGeom>
          <a:solidFill>
            <a:srgbClr val="FFFFFF"/>
          </a:solidFill>
          <a:ln cap="flat" cmpd="sng" w="2857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13"/>
          <p:cNvGrpSpPr/>
          <p:nvPr/>
        </p:nvGrpSpPr>
        <p:grpSpPr>
          <a:xfrm>
            <a:off x="5958725" y="3625579"/>
            <a:ext cx="379746" cy="379756"/>
            <a:chOff x="-2571737" y="2403625"/>
            <a:chExt cx="292225" cy="291425"/>
          </a:xfrm>
        </p:grpSpPr>
        <p:sp>
          <p:nvSpPr>
            <p:cNvPr id="50" name="Google Shape;50;p13"/>
            <p:cNvSpPr/>
            <p:nvPr/>
          </p:nvSpPr>
          <p:spPr>
            <a:xfrm>
              <a:off x="-2571737" y="2403625"/>
              <a:ext cx="292225" cy="291425"/>
            </a:xfrm>
            <a:custGeom>
              <a:rect b="b" l="l" r="r" t="t"/>
              <a:pathLst>
                <a:path extrusionOk="0" h="11657" w="11689">
                  <a:moveTo>
                    <a:pt x="9547" y="725"/>
                  </a:moveTo>
                  <a:cubicBezTo>
                    <a:pt x="9704" y="725"/>
                    <a:pt x="9830" y="788"/>
                    <a:pt x="9893" y="914"/>
                  </a:cubicBezTo>
                  <a:lnTo>
                    <a:pt x="10681" y="2772"/>
                  </a:lnTo>
                  <a:lnTo>
                    <a:pt x="1135" y="2772"/>
                  </a:lnTo>
                  <a:lnTo>
                    <a:pt x="1891" y="914"/>
                  </a:lnTo>
                  <a:cubicBezTo>
                    <a:pt x="1922" y="788"/>
                    <a:pt x="2080" y="725"/>
                    <a:pt x="2206" y="725"/>
                  </a:cubicBezTo>
                  <a:close/>
                  <a:moveTo>
                    <a:pt x="10649" y="3403"/>
                  </a:moveTo>
                  <a:cubicBezTo>
                    <a:pt x="10870" y="3403"/>
                    <a:pt x="11027" y="3560"/>
                    <a:pt x="11027" y="3749"/>
                  </a:cubicBezTo>
                  <a:lnTo>
                    <a:pt x="11027" y="5167"/>
                  </a:lnTo>
                  <a:cubicBezTo>
                    <a:pt x="11027" y="5356"/>
                    <a:pt x="10870" y="5513"/>
                    <a:pt x="10649" y="5513"/>
                  </a:cubicBezTo>
                  <a:lnTo>
                    <a:pt x="1040" y="5513"/>
                  </a:lnTo>
                  <a:cubicBezTo>
                    <a:pt x="851" y="5513"/>
                    <a:pt x="694" y="5356"/>
                    <a:pt x="694" y="5167"/>
                  </a:cubicBezTo>
                  <a:lnTo>
                    <a:pt x="694" y="3749"/>
                  </a:lnTo>
                  <a:cubicBezTo>
                    <a:pt x="694" y="3560"/>
                    <a:pt x="851" y="3403"/>
                    <a:pt x="1040" y="3403"/>
                  </a:cubicBezTo>
                  <a:close/>
                  <a:moveTo>
                    <a:pt x="10681" y="6206"/>
                  </a:moveTo>
                  <a:cubicBezTo>
                    <a:pt x="10870" y="6238"/>
                    <a:pt x="11027" y="6364"/>
                    <a:pt x="11027" y="6553"/>
                  </a:cubicBezTo>
                  <a:lnTo>
                    <a:pt x="11027" y="7939"/>
                  </a:lnTo>
                  <a:cubicBezTo>
                    <a:pt x="11027" y="8128"/>
                    <a:pt x="10870" y="8286"/>
                    <a:pt x="10681" y="8286"/>
                  </a:cubicBezTo>
                  <a:lnTo>
                    <a:pt x="1072" y="8286"/>
                  </a:lnTo>
                  <a:cubicBezTo>
                    <a:pt x="851" y="8286"/>
                    <a:pt x="694" y="8128"/>
                    <a:pt x="694" y="7939"/>
                  </a:cubicBezTo>
                  <a:lnTo>
                    <a:pt x="694" y="6553"/>
                  </a:lnTo>
                  <a:cubicBezTo>
                    <a:pt x="694" y="6364"/>
                    <a:pt x="851" y="6206"/>
                    <a:pt x="1072" y="6206"/>
                  </a:cubicBezTo>
                  <a:close/>
                  <a:moveTo>
                    <a:pt x="10681" y="8947"/>
                  </a:moveTo>
                  <a:cubicBezTo>
                    <a:pt x="10870" y="8947"/>
                    <a:pt x="11027" y="9105"/>
                    <a:pt x="11027" y="9294"/>
                  </a:cubicBezTo>
                  <a:lnTo>
                    <a:pt x="11027" y="10680"/>
                  </a:lnTo>
                  <a:cubicBezTo>
                    <a:pt x="11027" y="10869"/>
                    <a:pt x="10870" y="11027"/>
                    <a:pt x="10681" y="11027"/>
                  </a:cubicBezTo>
                  <a:lnTo>
                    <a:pt x="1072" y="11027"/>
                  </a:lnTo>
                  <a:cubicBezTo>
                    <a:pt x="851" y="11027"/>
                    <a:pt x="694" y="10869"/>
                    <a:pt x="694" y="10680"/>
                  </a:cubicBezTo>
                  <a:lnTo>
                    <a:pt x="694" y="9294"/>
                  </a:lnTo>
                  <a:cubicBezTo>
                    <a:pt x="694" y="9105"/>
                    <a:pt x="851" y="8947"/>
                    <a:pt x="1072" y="8947"/>
                  </a:cubicBezTo>
                  <a:close/>
                  <a:moveTo>
                    <a:pt x="2174" y="0"/>
                  </a:moveTo>
                  <a:cubicBezTo>
                    <a:pt x="1733" y="0"/>
                    <a:pt x="1387" y="252"/>
                    <a:pt x="1229" y="630"/>
                  </a:cubicBezTo>
                  <a:lnTo>
                    <a:pt x="64" y="3403"/>
                  </a:lnTo>
                  <a:cubicBezTo>
                    <a:pt x="32" y="3529"/>
                    <a:pt x="0" y="3686"/>
                    <a:pt x="0" y="3781"/>
                  </a:cubicBezTo>
                  <a:lnTo>
                    <a:pt x="0" y="5198"/>
                  </a:lnTo>
                  <a:cubicBezTo>
                    <a:pt x="0" y="5482"/>
                    <a:pt x="127" y="5734"/>
                    <a:pt x="284" y="5860"/>
                  </a:cubicBezTo>
                  <a:cubicBezTo>
                    <a:pt x="127" y="6080"/>
                    <a:pt x="0" y="6301"/>
                    <a:pt x="0" y="6553"/>
                  </a:cubicBezTo>
                  <a:lnTo>
                    <a:pt x="0" y="7908"/>
                  </a:lnTo>
                  <a:cubicBezTo>
                    <a:pt x="0" y="8191"/>
                    <a:pt x="127" y="8443"/>
                    <a:pt x="284" y="8601"/>
                  </a:cubicBezTo>
                  <a:cubicBezTo>
                    <a:pt x="127" y="8790"/>
                    <a:pt x="0" y="9010"/>
                    <a:pt x="0" y="9262"/>
                  </a:cubicBezTo>
                  <a:lnTo>
                    <a:pt x="0" y="10649"/>
                  </a:lnTo>
                  <a:cubicBezTo>
                    <a:pt x="0" y="11184"/>
                    <a:pt x="473" y="11657"/>
                    <a:pt x="1009" y="11657"/>
                  </a:cubicBezTo>
                  <a:lnTo>
                    <a:pt x="10618" y="11657"/>
                  </a:lnTo>
                  <a:cubicBezTo>
                    <a:pt x="11185" y="11657"/>
                    <a:pt x="11657" y="11184"/>
                    <a:pt x="11657" y="10649"/>
                  </a:cubicBezTo>
                  <a:lnTo>
                    <a:pt x="11657" y="9262"/>
                  </a:lnTo>
                  <a:cubicBezTo>
                    <a:pt x="11657" y="8979"/>
                    <a:pt x="11531" y="8758"/>
                    <a:pt x="11374" y="8601"/>
                  </a:cubicBezTo>
                  <a:cubicBezTo>
                    <a:pt x="11531" y="8380"/>
                    <a:pt x="11657" y="8160"/>
                    <a:pt x="11657" y="7908"/>
                  </a:cubicBezTo>
                  <a:lnTo>
                    <a:pt x="11657" y="6553"/>
                  </a:lnTo>
                  <a:cubicBezTo>
                    <a:pt x="11657" y="6269"/>
                    <a:pt x="11531" y="6017"/>
                    <a:pt x="11374" y="5860"/>
                  </a:cubicBezTo>
                  <a:cubicBezTo>
                    <a:pt x="11531" y="5671"/>
                    <a:pt x="11657" y="5450"/>
                    <a:pt x="11657" y="5198"/>
                  </a:cubicBezTo>
                  <a:lnTo>
                    <a:pt x="11657" y="3781"/>
                  </a:lnTo>
                  <a:lnTo>
                    <a:pt x="11689" y="3781"/>
                  </a:lnTo>
                  <a:cubicBezTo>
                    <a:pt x="11689" y="3686"/>
                    <a:pt x="11657" y="3529"/>
                    <a:pt x="11594" y="3403"/>
                  </a:cubicBezTo>
                  <a:lnTo>
                    <a:pt x="10460" y="630"/>
                  </a:lnTo>
                  <a:cubicBezTo>
                    <a:pt x="10303" y="252"/>
                    <a:pt x="9925" y="0"/>
                    <a:pt x="95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13"/>
            <p:cNvSpPr/>
            <p:nvPr/>
          </p:nvSpPr>
          <p:spPr>
            <a:xfrm>
              <a:off x="-2485967" y="2649150"/>
              <a:ext cx="173300" cy="18150"/>
            </a:xfrm>
            <a:custGeom>
              <a:rect b="b" l="l" r="r" t="t"/>
              <a:pathLst>
                <a:path extrusionOk="0" h="726" w="6932">
                  <a:moveTo>
                    <a:pt x="378" y="1"/>
                  </a:moveTo>
                  <a:cubicBezTo>
                    <a:pt x="158" y="1"/>
                    <a:pt x="0" y="159"/>
                    <a:pt x="0" y="379"/>
                  </a:cubicBezTo>
                  <a:cubicBezTo>
                    <a:pt x="0" y="568"/>
                    <a:pt x="158" y="726"/>
                    <a:pt x="378" y="726"/>
                  </a:cubicBezTo>
                  <a:lnTo>
                    <a:pt x="6585" y="726"/>
                  </a:lnTo>
                  <a:cubicBezTo>
                    <a:pt x="6774" y="726"/>
                    <a:pt x="6931" y="568"/>
                    <a:pt x="6931" y="379"/>
                  </a:cubicBezTo>
                  <a:cubicBezTo>
                    <a:pt x="6931" y="159"/>
                    <a:pt x="6774" y="1"/>
                    <a:pt x="658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3"/>
            <p:cNvSpPr/>
            <p:nvPr/>
          </p:nvSpPr>
          <p:spPr>
            <a:xfrm>
              <a:off x="-2485967" y="2511325"/>
              <a:ext cx="173300" cy="18150"/>
            </a:xfrm>
            <a:custGeom>
              <a:rect b="b" l="l" r="r" t="t"/>
              <a:pathLst>
                <a:path extrusionOk="0" h="726" w="6932">
                  <a:moveTo>
                    <a:pt x="378" y="1"/>
                  </a:moveTo>
                  <a:cubicBezTo>
                    <a:pt x="158" y="1"/>
                    <a:pt x="0" y="158"/>
                    <a:pt x="0" y="379"/>
                  </a:cubicBezTo>
                  <a:cubicBezTo>
                    <a:pt x="0" y="568"/>
                    <a:pt x="158" y="725"/>
                    <a:pt x="378" y="725"/>
                  </a:cubicBezTo>
                  <a:lnTo>
                    <a:pt x="6585" y="725"/>
                  </a:lnTo>
                  <a:cubicBezTo>
                    <a:pt x="6774" y="725"/>
                    <a:pt x="6931" y="568"/>
                    <a:pt x="6931" y="379"/>
                  </a:cubicBezTo>
                  <a:cubicBezTo>
                    <a:pt x="6931" y="158"/>
                    <a:pt x="6774" y="1"/>
                    <a:pt x="658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3"/>
            <p:cNvSpPr/>
            <p:nvPr/>
          </p:nvSpPr>
          <p:spPr>
            <a:xfrm>
              <a:off x="-2540185" y="2511325"/>
              <a:ext cx="18125" cy="18925"/>
            </a:xfrm>
            <a:custGeom>
              <a:rect b="b" l="l" r="r" t="t"/>
              <a:pathLst>
                <a:path extrusionOk="0" h="757" w="725">
                  <a:moveTo>
                    <a:pt x="378" y="1"/>
                  </a:moveTo>
                  <a:cubicBezTo>
                    <a:pt x="158" y="1"/>
                    <a:pt x="0" y="158"/>
                    <a:pt x="0" y="379"/>
                  </a:cubicBezTo>
                  <a:cubicBezTo>
                    <a:pt x="0" y="568"/>
                    <a:pt x="158" y="757"/>
                    <a:pt x="378" y="757"/>
                  </a:cubicBezTo>
                  <a:cubicBezTo>
                    <a:pt x="567" y="757"/>
                    <a:pt x="725" y="568"/>
                    <a:pt x="725" y="379"/>
                  </a:cubicBezTo>
                  <a:cubicBezTo>
                    <a:pt x="725" y="158"/>
                    <a:pt x="567" y="1"/>
                    <a:pt x="37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3"/>
            <p:cNvSpPr/>
            <p:nvPr/>
          </p:nvSpPr>
          <p:spPr>
            <a:xfrm>
              <a:off x="-2485579" y="2580625"/>
              <a:ext cx="172525" cy="17350"/>
            </a:xfrm>
            <a:custGeom>
              <a:rect b="b" l="l" r="r" t="t"/>
              <a:pathLst>
                <a:path extrusionOk="0" h="694" w="6901">
                  <a:moveTo>
                    <a:pt x="347" y="0"/>
                  </a:moveTo>
                  <a:cubicBezTo>
                    <a:pt x="158" y="0"/>
                    <a:pt x="1" y="158"/>
                    <a:pt x="1" y="347"/>
                  </a:cubicBezTo>
                  <a:cubicBezTo>
                    <a:pt x="32" y="536"/>
                    <a:pt x="158" y="693"/>
                    <a:pt x="347" y="693"/>
                  </a:cubicBezTo>
                  <a:lnTo>
                    <a:pt x="6554" y="693"/>
                  </a:lnTo>
                  <a:cubicBezTo>
                    <a:pt x="6774" y="693"/>
                    <a:pt x="6900" y="536"/>
                    <a:pt x="6900" y="347"/>
                  </a:cubicBezTo>
                  <a:cubicBezTo>
                    <a:pt x="6900" y="158"/>
                    <a:pt x="6774" y="0"/>
                    <a:pt x="655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3"/>
            <p:cNvSpPr/>
            <p:nvPr/>
          </p:nvSpPr>
          <p:spPr>
            <a:xfrm>
              <a:off x="-2540185" y="2580625"/>
              <a:ext cx="18125" cy="17350"/>
            </a:xfrm>
            <a:custGeom>
              <a:rect b="b" l="l" r="r" t="t"/>
              <a:pathLst>
                <a:path extrusionOk="0" h="694" w="725">
                  <a:moveTo>
                    <a:pt x="378" y="0"/>
                  </a:moveTo>
                  <a:cubicBezTo>
                    <a:pt x="158" y="0"/>
                    <a:pt x="0" y="158"/>
                    <a:pt x="0" y="347"/>
                  </a:cubicBezTo>
                  <a:cubicBezTo>
                    <a:pt x="0" y="536"/>
                    <a:pt x="158" y="693"/>
                    <a:pt x="378" y="693"/>
                  </a:cubicBezTo>
                  <a:cubicBezTo>
                    <a:pt x="567" y="693"/>
                    <a:pt x="725" y="536"/>
                    <a:pt x="725" y="347"/>
                  </a:cubicBezTo>
                  <a:cubicBezTo>
                    <a:pt x="725" y="158"/>
                    <a:pt x="567" y="0"/>
                    <a:pt x="37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3"/>
            <p:cNvSpPr/>
            <p:nvPr/>
          </p:nvSpPr>
          <p:spPr>
            <a:xfrm>
              <a:off x="-2540185" y="2649150"/>
              <a:ext cx="18125" cy="18150"/>
            </a:xfrm>
            <a:custGeom>
              <a:rect b="b" l="l" r="r" t="t"/>
              <a:pathLst>
                <a:path extrusionOk="0" h="726" w="725">
                  <a:moveTo>
                    <a:pt x="378" y="1"/>
                  </a:moveTo>
                  <a:cubicBezTo>
                    <a:pt x="158" y="1"/>
                    <a:pt x="0" y="159"/>
                    <a:pt x="0" y="379"/>
                  </a:cubicBezTo>
                  <a:cubicBezTo>
                    <a:pt x="0" y="568"/>
                    <a:pt x="158" y="726"/>
                    <a:pt x="378" y="726"/>
                  </a:cubicBezTo>
                  <a:cubicBezTo>
                    <a:pt x="567" y="726"/>
                    <a:pt x="725" y="568"/>
                    <a:pt x="725" y="379"/>
                  </a:cubicBezTo>
                  <a:cubicBezTo>
                    <a:pt x="725" y="159"/>
                    <a:pt x="567" y="1"/>
                    <a:pt x="37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13"/>
          <p:cNvSpPr/>
          <p:nvPr/>
        </p:nvSpPr>
        <p:spPr>
          <a:xfrm>
            <a:off x="5493225" y="1687650"/>
            <a:ext cx="2317200" cy="285600"/>
          </a:xfrm>
          <a:prstGeom prst="roundRect">
            <a:avLst>
              <a:gd fmla="val 50000" name="adj"/>
            </a:avLst>
          </a:prstGeom>
          <a:solidFill>
            <a:srgbClr val="FFFFFF"/>
          </a:solidFill>
          <a:ln cap="flat" cmpd="sng" w="2857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900">
                <a:solidFill>
                  <a:schemeClr val="dk1"/>
                </a:solidFill>
                <a:latin typeface="Fira Sans Extra Condensed"/>
                <a:ea typeface="Fira Sans Extra Condensed"/>
                <a:cs typeface="Fira Sans Extra Condensed"/>
                <a:sym typeface="Fira Sans Extra Condensed"/>
              </a:rPr>
              <a:t>Global Operations</a:t>
            </a:r>
            <a:endParaRPr b="1" sz="1900">
              <a:solidFill>
                <a:schemeClr val="dk1"/>
              </a:solidFill>
              <a:latin typeface="Fira Sans Extra Condensed"/>
              <a:ea typeface="Fira Sans Extra Condensed"/>
              <a:cs typeface="Fira Sans Extra Condensed"/>
              <a:sym typeface="Fira Sans Extra Condensed"/>
            </a:endParaRPr>
          </a:p>
        </p:txBody>
      </p:sp>
      <p:cxnSp>
        <p:nvCxnSpPr>
          <p:cNvPr id="58" name="Google Shape;58;p13"/>
          <p:cNvCxnSpPr>
            <a:stCxn id="48" idx="3"/>
            <a:endCxn id="47" idx="2"/>
          </p:cNvCxnSpPr>
          <p:nvPr/>
        </p:nvCxnSpPr>
        <p:spPr>
          <a:xfrm rot="5400000">
            <a:off x="5328190" y="2201341"/>
            <a:ext cx="1257300" cy="1278300"/>
          </a:xfrm>
          <a:prstGeom prst="bentConnector3">
            <a:avLst>
              <a:gd fmla="val 50004" name="adj1"/>
            </a:avLst>
          </a:prstGeom>
          <a:noFill/>
          <a:ln cap="flat" cmpd="sng" w="28575">
            <a:solidFill>
              <a:schemeClr val="accent6"/>
            </a:solidFill>
            <a:prstDash val="solid"/>
            <a:round/>
            <a:headEnd len="med" w="med" type="none"/>
            <a:tailEnd len="med" w="med" type="none"/>
          </a:ln>
        </p:spPr>
      </p:cxnSp>
      <p:cxnSp>
        <p:nvCxnSpPr>
          <p:cNvPr id="59" name="Google Shape;59;p13"/>
          <p:cNvCxnSpPr>
            <a:stCxn id="48" idx="3"/>
            <a:endCxn id="46" idx="2"/>
          </p:cNvCxnSpPr>
          <p:nvPr/>
        </p:nvCxnSpPr>
        <p:spPr>
          <a:xfrm rot="5400000">
            <a:off x="5743690" y="2616841"/>
            <a:ext cx="1257300" cy="447300"/>
          </a:xfrm>
          <a:prstGeom prst="bentConnector3">
            <a:avLst>
              <a:gd fmla="val 50004" name="adj1"/>
            </a:avLst>
          </a:prstGeom>
          <a:noFill/>
          <a:ln cap="flat" cmpd="sng" w="28575">
            <a:solidFill>
              <a:schemeClr val="accent6"/>
            </a:solidFill>
            <a:prstDash val="solid"/>
            <a:round/>
            <a:headEnd len="med" w="med" type="none"/>
            <a:tailEnd len="med" w="med" type="none"/>
          </a:ln>
        </p:spPr>
      </p:cxnSp>
      <p:cxnSp>
        <p:nvCxnSpPr>
          <p:cNvPr id="60" name="Google Shape;60;p13"/>
          <p:cNvCxnSpPr>
            <a:stCxn id="48" idx="3"/>
            <a:endCxn id="45" idx="2"/>
          </p:cNvCxnSpPr>
          <p:nvPr/>
        </p:nvCxnSpPr>
        <p:spPr>
          <a:xfrm flipH="1" rot="-5400000">
            <a:off x="6159040" y="2648791"/>
            <a:ext cx="1257300" cy="383400"/>
          </a:xfrm>
          <a:prstGeom prst="bentConnector3">
            <a:avLst>
              <a:gd fmla="val 50004" name="adj1"/>
            </a:avLst>
          </a:prstGeom>
          <a:noFill/>
          <a:ln cap="flat" cmpd="sng" w="28575">
            <a:solidFill>
              <a:schemeClr val="accent6"/>
            </a:solidFill>
            <a:prstDash val="solid"/>
            <a:round/>
            <a:headEnd len="med" w="med" type="none"/>
            <a:tailEnd len="med" w="med" type="none"/>
          </a:ln>
        </p:spPr>
      </p:cxnSp>
      <p:cxnSp>
        <p:nvCxnSpPr>
          <p:cNvPr id="61" name="Google Shape;61;p13"/>
          <p:cNvCxnSpPr>
            <a:stCxn id="48" idx="3"/>
            <a:endCxn id="44" idx="2"/>
          </p:cNvCxnSpPr>
          <p:nvPr/>
        </p:nvCxnSpPr>
        <p:spPr>
          <a:xfrm flipH="1" rot="-5400000">
            <a:off x="6574540" y="2233291"/>
            <a:ext cx="1257300" cy="1214400"/>
          </a:xfrm>
          <a:prstGeom prst="bentConnector3">
            <a:avLst>
              <a:gd fmla="val 50004" name="adj1"/>
            </a:avLst>
          </a:prstGeom>
          <a:noFill/>
          <a:ln cap="flat" cmpd="sng" w="28575">
            <a:solidFill>
              <a:schemeClr val="accent6"/>
            </a:solidFill>
            <a:prstDash val="solid"/>
            <a:round/>
            <a:headEnd len="med" w="med" type="none"/>
            <a:tailEnd len="med" w="med" type="none"/>
          </a:ln>
        </p:spPr>
      </p:cxnSp>
      <p:grpSp>
        <p:nvGrpSpPr>
          <p:cNvPr id="62" name="Google Shape;62;p13"/>
          <p:cNvGrpSpPr/>
          <p:nvPr/>
        </p:nvGrpSpPr>
        <p:grpSpPr>
          <a:xfrm>
            <a:off x="5142093" y="3632583"/>
            <a:ext cx="351136" cy="365769"/>
            <a:chOff x="-65129950" y="2646800"/>
            <a:chExt cx="311125" cy="317425"/>
          </a:xfrm>
        </p:grpSpPr>
        <p:sp>
          <p:nvSpPr>
            <p:cNvPr id="63" name="Google Shape;63;p13"/>
            <p:cNvSpPr/>
            <p:nvPr/>
          </p:nvSpPr>
          <p:spPr>
            <a:xfrm>
              <a:off x="-65129950" y="2646800"/>
              <a:ext cx="311125" cy="317425"/>
            </a:xfrm>
            <a:custGeom>
              <a:rect b="b" l="l" r="r" t="t"/>
              <a:pathLst>
                <a:path extrusionOk="0" h="12697" w="12445">
                  <a:moveTo>
                    <a:pt x="6648" y="851"/>
                  </a:moveTo>
                  <a:lnTo>
                    <a:pt x="6648" y="1954"/>
                  </a:lnTo>
                  <a:lnTo>
                    <a:pt x="5860" y="1954"/>
                  </a:lnTo>
                  <a:lnTo>
                    <a:pt x="5860" y="851"/>
                  </a:lnTo>
                  <a:close/>
                  <a:moveTo>
                    <a:pt x="1261" y="1954"/>
                  </a:moveTo>
                  <a:cubicBezTo>
                    <a:pt x="1355" y="1954"/>
                    <a:pt x="1450" y="1985"/>
                    <a:pt x="1544" y="2080"/>
                  </a:cubicBezTo>
                  <a:cubicBezTo>
                    <a:pt x="1733" y="2237"/>
                    <a:pt x="1733" y="2521"/>
                    <a:pt x="1576" y="2678"/>
                  </a:cubicBezTo>
                  <a:cubicBezTo>
                    <a:pt x="1497" y="2757"/>
                    <a:pt x="1387" y="2797"/>
                    <a:pt x="1276" y="2797"/>
                  </a:cubicBezTo>
                  <a:cubicBezTo>
                    <a:pt x="1166" y="2797"/>
                    <a:pt x="1056" y="2757"/>
                    <a:pt x="977" y="2678"/>
                  </a:cubicBezTo>
                  <a:cubicBezTo>
                    <a:pt x="819" y="2521"/>
                    <a:pt x="819" y="2237"/>
                    <a:pt x="977" y="2080"/>
                  </a:cubicBezTo>
                  <a:cubicBezTo>
                    <a:pt x="1072" y="1985"/>
                    <a:pt x="1198" y="1954"/>
                    <a:pt x="1261" y="1954"/>
                  </a:cubicBezTo>
                  <a:close/>
                  <a:moveTo>
                    <a:pt x="11216" y="1954"/>
                  </a:moveTo>
                  <a:cubicBezTo>
                    <a:pt x="11468" y="1954"/>
                    <a:pt x="11626" y="2143"/>
                    <a:pt x="11626" y="2395"/>
                  </a:cubicBezTo>
                  <a:cubicBezTo>
                    <a:pt x="11626" y="2615"/>
                    <a:pt x="11437" y="2836"/>
                    <a:pt x="11216" y="2836"/>
                  </a:cubicBezTo>
                  <a:cubicBezTo>
                    <a:pt x="11027" y="2836"/>
                    <a:pt x="10807" y="2615"/>
                    <a:pt x="10807" y="2395"/>
                  </a:cubicBezTo>
                  <a:cubicBezTo>
                    <a:pt x="10807" y="2143"/>
                    <a:pt x="10996" y="1954"/>
                    <a:pt x="11216" y="1954"/>
                  </a:cubicBezTo>
                  <a:close/>
                  <a:moveTo>
                    <a:pt x="6270" y="2773"/>
                  </a:moveTo>
                  <a:cubicBezTo>
                    <a:pt x="8759" y="2773"/>
                    <a:pt x="10807" y="4821"/>
                    <a:pt x="10807" y="7341"/>
                  </a:cubicBezTo>
                  <a:cubicBezTo>
                    <a:pt x="10807" y="9861"/>
                    <a:pt x="8759" y="11909"/>
                    <a:pt x="6270" y="11909"/>
                  </a:cubicBezTo>
                  <a:cubicBezTo>
                    <a:pt x="3781" y="11909"/>
                    <a:pt x="1733" y="9861"/>
                    <a:pt x="1733" y="7341"/>
                  </a:cubicBezTo>
                  <a:cubicBezTo>
                    <a:pt x="1733" y="4821"/>
                    <a:pt x="3781" y="2773"/>
                    <a:pt x="6270" y="2773"/>
                  </a:cubicBezTo>
                  <a:close/>
                  <a:moveTo>
                    <a:pt x="4663" y="0"/>
                  </a:moveTo>
                  <a:cubicBezTo>
                    <a:pt x="4411" y="0"/>
                    <a:pt x="4254" y="189"/>
                    <a:pt x="4254" y="410"/>
                  </a:cubicBezTo>
                  <a:cubicBezTo>
                    <a:pt x="4254" y="662"/>
                    <a:pt x="4474" y="851"/>
                    <a:pt x="4663" y="851"/>
                  </a:cubicBezTo>
                  <a:lnTo>
                    <a:pt x="5104" y="851"/>
                  </a:lnTo>
                  <a:lnTo>
                    <a:pt x="5104" y="2111"/>
                  </a:lnTo>
                  <a:cubicBezTo>
                    <a:pt x="4254" y="2300"/>
                    <a:pt x="3466" y="2710"/>
                    <a:pt x="2836" y="3245"/>
                  </a:cubicBezTo>
                  <a:lnTo>
                    <a:pt x="2489" y="2899"/>
                  </a:lnTo>
                  <a:cubicBezTo>
                    <a:pt x="2741" y="2426"/>
                    <a:pt x="2647" y="1891"/>
                    <a:pt x="2269" y="1481"/>
                  </a:cubicBezTo>
                  <a:cubicBezTo>
                    <a:pt x="2032" y="1245"/>
                    <a:pt x="1717" y="1127"/>
                    <a:pt x="1394" y="1127"/>
                  </a:cubicBezTo>
                  <a:cubicBezTo>
                    <a:pt x="1072" y="1127"/>
                    <a:pt x="741" y="1245"/>
                    <a:pt x="473" y="1481"/>
                  </a:cubicBezTo>
                  <a:cubicBezTo>
                    <a:pt x="0" y="1954"/>
                    <a:pt x="0" y="2741"/>
                    <a:pt x="473" y="3245"/>
                  </a:cubicBezTo>
                  <a:cubicBezTo>
                    <a:pt x="725" y="3498"/>
                    <a:pt x="1040" y="3624"/>
                    <a:pt x="1355" y="3624"/>
                  </a:cubicBezTo>
                  <a:cubicBezTo>
                    <a:pt x="1544" y="3624"/>
                    <a:pt x="1702" y="3561"/>
                    <a:pt x="1891" y="3498"/>
                  </a:cubicBezTo>
                  <a:lnTo>
                    <a:pt x="2269" y="3844"/>
                  </a:lnTo>
                  <a:cubicBezTo>
                    <a:pt x="1481" y="4789"/>
                    <a:pt x="946" y="6018"/>
                    <a:pt x="946" y="7341"/>
                  </a:cubicBezTo>
                  <a:cubicBezTo>
                    <a:pt x="946" y="10303"/>
                    <a:pt x="3371" y="12697"/>
                    <a:pt x="6301" y="12697"/>
                  </a:cubicBezTo>
                  <a:cubicBezTo>
                    <a:pt x="9263" y="12697"/>
                    <a:pt x="11657" y="10303"/>
                    <a:pt x="11657" y="7341"/>
                  </a:cubicBezTo>
                  <a:cubicBezTo>
                    <a:pt x="11657" y="6018"/>
                    <a:pt x="11185" y="4789"/>
                    <a:pt x="10365" y="3844"/>
                  </a:cubicBezTo>
                  <a:lnTo>
                    <a:pt x="10712" y="3498"/>
                  </a:lnTo>
                  <a:cubicBezTo>
                    <a:pt x="10838" y="3561"/>
                    <a:pt x="11027" y="3624"/>
                    <a:pt x="11216" y="3624"/>
                  </a:cubicBezTo>
                  <a:cubicBezTo>
                    <a:pt x="11909" y="3624"/>
                    <a:pt x="12445" y="3056"/>
                    <a:pt x="12445" y="2363"/>
                  </a:cubicBezTo>
                  <a:cubicBezTo>
                    <a:pt x="12445" y="1670"/>
                    <a:pt x="11909" y="1135"/>
                    <a:pt x="11216" y="1135"/>
                  </a:cubicBezTo>
                  <a:cubicBezTo>
                    <a:pt x="10555" y="1135"/>
                    <a:pt x="10019" y="1670"/>
                    <a:pt x="10019" y="2363"/>
                  </a:cubicBezTo>
                  <a:cubicBezTo>
                    <a:pt x="10019" y="2552"/>
                    <a:pt x="10050" y="2710"/>
                    <a:pt x="10113" y="2899"/>
                  </a:cubicBezTo>
                  <a:lnTo>
                    <a:pt x="9767" y="3245"/>
                  </a:lnTo>
                  <a:cubicBezTo>
                    <a:pt x="9137" y="2710"/>
                    <a:pt x="8349" y="2300"/>
                    <a:pt x="7530" y="2111"/>
                  </a:cubicBezTo>
                  <a:lnTo>
                    <a:pt x="7530" y="851"/>
                  </a:lnTo>
                  <a:lnTo>
                    <a:pt x="7971" y="851"/>
                  </a:lnTo>
                  <a:cubicBezTo>
                    <a:pt x="8192" y="851"/>
                    <a:pt x="8349" y="662"/>
                    <a:pt x="8349" y="410"/>
                  </a:cubicBezTo>
                  <a:cubicBezTo>
                    <a:pt x="8349" y="189"/>
                    <a:pt x="8160" y="0"/>
                    <a:pt x="797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3"/>
            <p:cNvSpPr/>
            <p:nvPr/>
          </p:nvSpPr>
          <p:spPr>
            <a:xfrm>
              <a:off x="-65066950" y="2738175"/>
              <a:ext cx="187475" cy="185100"/>
            </a:xfrm>
            <a:custGeom>
              <a:rect b="b" l="l" r="r" t="t"/>
              <a:pathLst>
                <a:path extrusionOk="0" h="7404" w="7499">
                  <a:moveTo>
                    <a:pt x="3309" y="819"/>
                  </a:moveTo>
                  <a:lnTo>
                    <a:pt x="3309" y="3686"/>
                  </a:lnTo>
                  <a:cubicBezTo>
                    <a:pt x="3309" y="3938"/>
                    <a:pt x="3498" y="4127"/>
                    <a:pt x="3718" y="4127"/>
                  </a:cubicBezTo>
                  <a:lnTo>
                    <a:pt x="6612" y="4127"/>
                  </a:lnTo>
                  <a:cubicBezTo>
                    <a:pt x="6410" y="5529"/>
                    <a:pt x="5188" y="6585"/>
                    <a:pt x="3750" y="6585"/>
                  </a:cubicBezTo>
                  <a:cubicBezTo>
                    <a:pt x="2143" y="6585"/>
                    <a:pt x="820" y="5261"/>
                    <a:pt x="820" y="3686"/>
                  </a:cubicBezTo>
                  <a:cubicBezTo>
                    <a:pt x="820" y="2237"/>
                    <a:pt x="1891" y="1008"/>
                    <a:pt x="3309" y="819"/>
                  </a:cubicBezTo>
                  <a:close/>
                  <a:moveTo>
                    <a:pt x="3750" y="0"/>
                  </a:moveTo>
                  <a:cubicBezTo>
                    <a:pt x="1702" y="0"/>
                    <a:pt x="1" y="1638"/>
                    <a:pt x="1" y="3686"/>
                  </a:cubicBezTo>
                  <a:cubicBezTo>
                    <a:pt x="1" y="5734"/>
                    <a:pt x="1671" y="7404"/>
                    <a:pt x="3750" y="7404"/>
                  </a:cubicBezTo>
                  <a:cubicBezTo>
                    <a:pt x="5798" y="7404"/>
                    <a:pt x="7499" y="5734"/>
                    <a:pt x="7499" y="3686"/>
                  </a:cubicBezTo>
                  <a:cubicBezTo>
                    <a:pt x="7499" y="3466"/>
                    <a:pt x="7278" y="3277"/>
                    <a:pt x="7058" y="3277"/>
                  </a:cubicBezTo>
                  <a:lnTo>
                    <a:pt x="4128" y="3277"/>
                  </a:lnTo>
                  <a:lnTo>
                    <a:pt x="4128" y="378"/>
                  </a:lnTo>
                  <a:cubicBezTo>
                    <a:pt x="4128" y="158"/>
                    <a:pt x="3939" y="0"/>
                    <a:pt x="375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 name="Google Shape;65;p13"/>
          <p:cNvGrpSpPr/>
          <p:nvPr/>
        </p:nvGrpSpPr>
        <p:grpSpPr>
          <a:xfrm>
            <a:off x="6782916" y="3632592"/>
            <a:ext cx="393186" cy="365766"/>
            <a:chOff x="-62890750" y="2296300"/>
            <a:chExt cx="330825" cy="317450"/>
          </a:xfrm>
        </p:grpSpPr>
        <p:sp>
          <p:nvSpPr>
            <p:cNvPr id="66" name="Google Shape;66;p13"/>
            <p:cNvSpPr/>
            <p:nvPr/>
          </p:nvSpPr>
          <p:spPr>
            <a:xfrm>
              <a:off x="-62890750" y="2296300"/>
              <a:ext cx="313500" cy="195375"/>
            </a:xfrm>
            <a:custGeom>
              <a:rect b="b" l="l" r="r" t="t"/>
              <a:pathLst>
                <a:path extrusionOk="0" h="7815" w="12540">
                  <a:moveTo>
                    <a:pt x="11437" y="2080"/>
                  </a:moveTo>
                  <a:lnTo>
                    <a:pt x="11658" y="2931"/>
                  </a:lnTo>
                  <a:lnTo>
                    <a:pt x="10776" y="2742"/>
                  </a:lnTo>
                  <a:lnTo>
                    <a:pt x="11437" y="2080"/>
                  </a:lnTo>
                  <a:close/>
                  <a:moveTo>
                    <a:pt x="6617" y="1"/>
                  </a:moveTo>
                  <a:cubicBezTo>
                    <a:pt x="4916" y="1"/>
                    <a:pt x="3340" y="662"/>
                    <a:pt x="2112" y="1828"/>
                  </a:cubicBezTo>
                  <a:cubicBezTo>
                    <a:pt x="663" y="3277"/>
                    <a:pt x="1" y="5420"/>
                    <a:pt x="379" y="7467"/>
                  </a:cubicBezTo>
                  <a:cubicBezTo>
                    <a:pt x="442" y="7656"/>
                    <a:pt x="568" y="7814"/>
                    <a:pt x="789" y="7814"/>
                  </a:cubicBezTo>
                  <a:lnTo>
                    <a:pt x="852" y="7814"/>
                  </a:lnTo>
                  <a:cubicBezTo>
                    <a:pt x="1104" y="7783"/>
                    <a:pt x="1198" y="7562"/>
                    <a:pt x="1167" y="7341"/>
                  </a:cubicBezTo>
                  <a:cubicBezTo>
                    <a:pt x="852" y="5577"/>
                    <a:pt x="1419" y="3718"/>
                    <a:pt x="2710" y="2458"/>
                  </a:cubicBezTo>
                  <a:cubicBezTo>
                    <a:pt x="3719" y="1450"/>
                    <a:pt x="5136" y="851"/>
                    <a:pt x="6617" y="851"/>
                  </a:cubicBezTo>
                  <a:cubicBezTo>
                    <a:pt x="7940" y="851"/>
                    <a:pt x="9200" y="1324"/>
                    <a:pt x="10177" y="2206"/>
                  </a:cubicBezTo>
                  <a:lnTo>
                    <a:pt x="9610" y="2773"/>
                  </a:lnTo>
                  <a:cubicBezTo>
                    <a:pt x="9484" y="2899"/>
                    <a:pt x="9452" y="3057"/>
                    <a:pt x="9484" y="3183"/>
                  </a:cubicBezTo>
                  <a:cubicBezTo>
                    <a:pt x="9515" y="3340"/>
                    <a:pt x="9641" y="3403"/>
                    <a:pt x="9799" y="3466"/>
                  </a:cubicBezTo>
                  <a:lnTo>
                    <a:pt x="12036" y="3939"/>
                  </a:lnTo>
                  <a:lnTo>
                    <a:pt x="12130" y="3939"/>
                  </a:lnTo>
                  <a:cubicBezTo>
                    <a:pt x="12225" y="3939"/>
                    <a:pt x="12319" y="3876"/>
                    <a:pt x="12382" y="3813"/>
                  </a:cubicBezTo>
                  <a:cubicBezTo>
                    <a:pt x="12508" y="3687"/>
                    <a:pt x="12540" y="3561"/>
                    <a:pt x="12508" y="3403"/>
                  </a:cubicBezTo>
                  <a:lnTo>
                    <a:pt x="12036" y="1167"/>
                  </a:lnTo>
                  <a:cubicBezTo>
                    <a:pt x="12004" y="1009"/>
                    <a:pt x="11878" y="883"/>
                    <a:pt x="11752" y="851"/>
                  </a:cubicBezTo>
                  <a:cubicBezTo>
                    <a:pt x="11715" y="844"/>
                    <a:pt x="11678" y="840"/>
                    <a:pt x="11642" y="840"/>
                  </a:cubicBezTo>
                  <a:cubicBezTo>
                    <a:pt x="11526" y="840"/>
                    <a:pt x="11422" y="881"/>
                    <a:pt x="11374" y="977"/>
                  </a:cubicBezTo>
                  <a:lnTo>
                    <a:pt x="10776" y="1576"/>
                  </a:lnTo>
                  <a:cubicBezTo>
                    <a:pt x="9641" y="536"/>
                    <a:pt x="8129" y="1"/>
                    <a:pt x="661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3"/>
            <p:cNvSpPr/>
            <p:nvPr/>
          </p:nvSpPr>
          <p:spPr>
            <a:xfrm>
              <a:off x="-62874975" y="2417475"/>
              <a:ext cx="315050" cy="196275"/>
            </a:xfrm>
            <a:custGeom>
              <a:rect b="b" l="l" r="r" t="t"/>
              <a:pathLst>
                <a:path extrusionOk="0" h="7851" w="12602">
                  <a:moveTo>
                    <a:pt x="977" y="4857"/>
                  </a:moveTo>
                  <a:lnTo>
                    <a:pt x="1827" y="5078"/>
                  </a:lnTo>
                  <a:lnTo>
                    <a:pt x="1166" y="5739"/>
                  </a:lnTo>
                  <a:lnTo>
                    <a:pt x="977" y="4857"/>
                  </a:lnTo>
                  <a:close/>
                  <a:moveTo>
                    <a:pt x="11779" y="1"/>
                  </a:moveTo>
                  <a:cubicBezTo>
                    <a:pt x="11759" y="1"/>
                    <a:pt x="11739" y="2"/>
                    <a:pt x="11720" y="6"/>
                  </a:cubicBezTo>
                  <a:cubicBezTo>
                    <a:pt x="11499" y="69"/>
                    <a:pt x="11373" y="289"/>
                    <a:pt x="11405" y="478"/>
                  </a:cubicBezTo>
                  <a:cubicBezTo>
                    <a:pt x="11720" y="2274"/>
                    <a:pt x="11184" y="4101"/>
                    <a:pt x="9861" y="5361"/>
                  </a:cubicBezTo>
                  <a:cubicBezTo>
                    <a:pt x="8853" y="6401"/>
                    <a:pt x="7435" y="7000"/>
                    <a:pt x="5986" y="7000"/>
                  </a:cubicBezTo>
                  <a:cubicBezTo>
                    <a:pt x="4631" y="7000"/>
                    <a:pt x="3371" y="6527"/>
                    <a:pt x="2394" y="5645"/>
                  </a:cubicBezTo>
                  <a:lnTo>
                    <a:pt x="2993" y="5046"/>
                  </a:lnTo>
                  <a:cubicBezTo>
                    <a:pt x="3088" y="4952"/>
                    <a:pt x="3151" y="4794"/>
                    <a:pt x="3088" y="4668"/>
                  </a:cubicBezTo>
                  <a:cubicBezTo>
                    <a:pt x="3056" y="4511"/>
                    <a:pt x="2962" y="4416"/>
                    <a:pt x="2772" y="4385"/>
                  </a:cubicBezTo>
                  <a:lnTo>
                    <a:pt x="536" y="3912"/>
                  </a:lnTo>
                  <a:cubicBezTo>
                    <a:pt x="506" y="3905"/>
                    <a:pt x="476" y="3901"/>
                    <a:pt x="446" y="3901"/>
                  </a:cubicBezTo>
                  <a:cubicBezTo>
                    <a:pt x="350" y="3901"/>
                    <a:pt x="254" y="3942"/>
                    <a:pt x="158" y="4038"/>
                  </a:cubicBezTo>
                  <a:cubicBezTo>
                    <a:pt x="32" y="4164"/>
                    <a:pt x="0" y="4290"/>
                    <a:pt x="32" y="4448"/>
                  </a:cubicBezTo>
                  <a:lnTo>
                    <a:pt x="504" y="6685"/>
                  </a:lnTo>
                  <a:cubicBezTo>
                    <a:pt x="536" y="6842"/>
                    <a:pt x="662" y="6937"/>
                    <a:pt x="788" y="7000"/>
                  </a:cubicBezTo>
                  <a:lnTo>
                    <a:pt x="882" y="7000"/>
                  </a:lnTo>
                  <a:cubicBezTo>
                    <a:pt x="1008" y="7000"/>
                    <a:pt x="1103" y="6968"/>
                    <a:pt x="1166" y="6874"/>
                  </a:cubicBezTo>
                  <a:lnTo>
                    <a:pt x="1764" y="6275"/>
                  </a:lnTo>
                  <a:cubicBezTo>
                    <a:pt x="2899" y="7315"/>
                    <a:pt x="4411" y="7850"/>
                    <a:pt x="5923" y="7850"/>
                  </a:cubicBezTo>
                  <a:cubicBezTo>
                    <a:pt x="7624" y="7850"/>
                    <a:pt x="9200" y="7189"/>
                    <a:pt x="10428" y="6023"/>
                  </a:cubicBezTo>
                  <a:cubicBezTo>
                    <a:pt x="11909" y="4511"/>
                    <a:pt x="12602" y="2400"/>
                    <a:pt x="12192" y="321"/>
                  </a:cubicBezTo>
                  <a:cubicBezTo>
                    <a:pt x="12164" y="123"/>
                    <a:pt x="11958" y="1"/>
                    <a:pt x="1177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3"/>
            <p:cNvSpPr/>
            <p:nvPr/>
          </p:nvSpPr>
          <p:spPr>
            <a:xfrm>
              <a:off x="-62822225" y="2357750"/>
              <a:ext cx="193000" cy="192975"/>
            </a:xfrm>
            <a:custGeom>
              <a:rect b="b" l="l" r="r" t="t"/>
              <a:pathLst>
                <a:path extrusionOk="0" h="7719" w="7720">
                  <a:moveTo>
                    <a:pt x="2238" y="1323"/>
                  </a:moveTo>
                  <a:lnTo>
                    <a:pt x="2238" y="1323"/>
                  </a:lnTo>
                  <a:cubicBezTo>
                    <a:pt x="2143" y="1544"/>
                    <a:pt x="2049" y="1827"/>
                    <a:pt x="1986" y="2111"/>
                  </a:cubicBezTo>
                  <a:lnTo>
                    <a:pt x="1419" y="2111"/>
                  </a:lnTo>
                  <a:cubicBezTo>
                    <a:pt x="1671" y="1796"/>
                    <a:pt x="1923" y="1512"/>
                    <a:pt x="2238" y="1323"/>
                  </a:cubicBezTo>
                  <a:close/>
                  <a:moveTo>
                    <a:pt x="3466" y="1040"/>
                  </a:moveTo>
                  <a:lnTo>
                    <a:pt x="3466" y="2111"/>
                  </a:lnTo>
                  <a:lnTo>
                    <a:pt x="2836" y="2111"/>
                  </a:lnTo>
                  <a:cubicBezTo>
                    <a:pt x="2994" y="1575"/>
                    <a:pt x="3246" y="1229"/>
                    <a:pt x="3466" y="1040"/>
                  </a:cubicBezTo>
                  <a:close/>
                  <a:moveTo>
                    <a:pt x="4254" y="1040"/>
                  </a:moveTo>
                  <a:cubicBezTo>
                    <a:pt x="4538" y="1229"/>
                    <a:pt x="4727" y="1575"/>
                    <a:pt x="4884" y="2111"/>
                  </a:cubicBezTo>
                  <a:lnTo>
                    <a:pt x="4254" y="2111"/>
                  </a:lnTo>
                  <a:lnTo>
                    <a:pt x="4254" y="1040"/>
                  </a:lnTo>
                  <a:close/>
                  <a:moveTo>
                    <a:pt x="5483" y="1323"/>
                  </a:moveTo>
                  <a:lnTo>
                    <a:pt x="5483" y="1323"/>
                  </a:lnTo>
                  <a:cubicBezTo>
                    <a:pt x="5798" y="1512"/>
                    <a:pt x="6081" y="1796"/>
                    <a:pt x="6302" y="2111"/>
                  </a:cubicBezTo>
                  <a:lnTo>
                    <a:pt x="5766" y="2111"/>
                  </a:lnTo>
                  <a:cubicBezTo>
                    <a:pt x="5672" y="1827"/>
                    <a:pt x="5609" y="1544"/>
                    <a:pt x="5483" y="1323"/>
                  </a:cubicBezTo>
                  <a:close/>
                  <a:moveTo>
                    <a:pt x="1765" y="2930"/>
                  </a:moveTo>
                  <a:cubicBezTo>
                    <a:pt x="1734" y="3245"/>
                    <a:pt x="1702" y="3560"/>
                    <a:pt x="1702" y="3875"/>
                  </a:cubicBezTo>
                  <a:cubicBezTo>
                    <a:pt x="1702" y="4190"/>
                    <a:pt x="1734" y="4537"/>
                    <a:pt x="1765" y="4820"/>
                  </a:cubicBezTo>
                  <a:lnTo>
                    <a:pt x="978" y="4820"/>
                  </a:lnTo>
                  <a:cubicBezTo>
                    <a:pt x="883" y="4537"/>
                    <a:pt x="820" y="4222"/>
                    <a:pt x="820" y="3875"/>
                  </a:cubicBezTo>
                  <a:cubicBezTo>
                    <a:pt x="820" y="3497"/>
                    <a:pt x="883" y="3214"/>
                    <a:pt x="978" y="2930"/>
                  </a:cubicBezTo>
                  <a:close/>
                  <a:moveTo>
                    <a:pt x="5136" y="2930"/>
                  </a:moveTo>
                  <a:cubicBezTo>
                    <a:pt x="5168" y="3245"/>
                    <a:pt x="5199" y="3560"/>
                    <a:pt x="5199" y="3875"/>
                  </a:cubicBezTo>
                  <a:cubicBezTo>
                    <a:pt x="5199" y="4222"/>
                    <a:pt x="5168" y="4537"/>
                    <a:pt x="5136" y="4820"/>
                  </a:cubicBezTo>
                  <a:lnTo>
                    <a:pt x="4286" y="4820"/>
                  </a:lnTo>
                  <a:lnTo>
                    <a:pt x="4286" y="2930"/>
                  </a:lnTo>
                  <a:close/>
                  <a:moveTo>
                    <a:pt x="6743" y="2930"/>
                  </a:moveTo>
                  <a:cubicBezTo>
                    <a:pt x="6869" y="3245"/>
                    <a:pt x="6900" y="3560"/>
                    <a:pt x="6900" y="3875"/>
                  </a:cubicBezTo>
                  <a:cubicBezTo>
                    <a:pt x="6900" y="4222"/>
                    <a:pt x="6869" y="4537"/>
                    <a:pt x="6743" y="4820"/>
                  </a:cubicBezTo>
                  <a:lnTo>
                    <a:pt x="5955" y="4820"/>
                  </a:lnTo>
                  <a:cubicBezTo>
                    <a:pt x="5987" y="4505"/>
                    <a:pt x="6018" y="4190"/>
                    <a:pt x="6018" y="3875"/>
                  </a:cubicBezTo>
                  <a:cubicBezTo>
                    <a:pt x="6018" y="3560"/>
                    <a:pt x="5987" y="3214"/>
                    <a:pt x="5955" y="2930"/>
                  </a:cubicBezTo>
                  <a:close/>
                  <a:moveTo>
                    <a:pt x="3466" y="2930"/>
                  </a:moveTo>
                  <a:lnTo>
                    <a:pt x="3466" y="4852"/>
                  </a:lnTo>
                  <a:lnTo>
                    <a:pt x="2647" y="4852"/>
                  </a:lnTo>
                  <a:cubicBezTo>
                    <a:pt x="2553" y="4537"/>
                    <a:pt x="2553" y="4222"/>
                    <a:pt x="2553" y="3875"/>
                  </a:cubicBezTo>
                  <a:cubicBezTo>
                    <a:pt x="2553" y="3497"/>
                    <a:pt x="2616" y="3214"/>
                    <a:pt x="2647" y="2930"/>
                  </a:cubicBezTo>
                  <a:close/>
                  <a:moveTo>
                    <a:pt x="6302" y="5640"/>
                  </a:moveTo>
                  <a:cubicBezTo>
                    <a:pt x="6081" y="5955"/>
                    <a:pt x="5798" y="6238"/>
                    <a:pt x="5483" y="6427"/>
                  </a:cubicBezTo>
                  <a:cubicBezTo>
                    <a:pt x="5609" y="6207"/>
                    <a:pt x="5672" y="5923"/>
                    <a:pt x="5766" y="5640"/>
                  </a:cubicBezTo>
                  <a:close/>
                  <a:moveTo>
                    <a:pt x="1986" y="5671"/>
                  </a:moveTo>
                  <a:cubicBezTo>
                    <a:pt x="2049" y="5955"/>
                    <a:pt x="2143" y="6238"/>
                    <a:pt x="2238" y="6459"/>
                  </a:cubicBezTo>
                  <a:cubicBezTo>
                    <a:pt x="1923" y="6238"/>
                    <a:pt x="1671" y="5955"/>
                    <a:pt x="1419" y="5671"/>
                  </a:cubicBezTo>
                  <a:close/>
                  <a:moveTo>
                    <a:pt x="4916" y="5640"/>
                  </a:moveTo>
                  <a:cubicBezTo>
                    <a:pt x="4727" y="6144"/>
                    <a:pt x="4538" y="6522"/>
                    <a:pt x="4286" y="6711"/>
                  </a:cubicBezTo>
                  <a:lnTo>
                    <a:pt x="4286" y="5640"/>
                  </a:lnTo>
                  <a:close/>
                  <a:moveTo>
                    <a:pt x="3466" y="5671"/>
                  </a:moveTo>
                  <a:lnTo>
                    <a:pt x="3466" y="6742"/>
                  </a:lnTo>
                  <a:cubicBezTo>
                    <a:pt x="3246" y="6553"/>
                    <a:pt x="2994" y="6144"/>
                    <a:pt x="2836" y="5671"/>
                  </a:cubicBezTo>
                  <a:close/>
                  <a:moveTo>
                    <a:pt x="3876" y="0"/>
                  </a:moveTo>
                  <a:cubicBezTo>
                    <a:pt x="2301" y="0"/>
                    <a:pt x="915" y="945"/>
                    <a:pt x="316" y="2332"/>
                  </a:cubicBezTo>
                  <a:cubicBezTo>
                    <a:pt x="127" y="2804"/>
                    <a:pt x="1" y="3308"/>
                    <a:pt x="1" y="3875"/>
                  </a:cubicBezTo>
                  <a:cubicBezTo>
                    <a:pt x="1" y="4411"/>
                    <a:pt x="127" y="4946"/>
                    <a:pt x="316" y="5419"/>
                  </a:cubicBezTo>
                  <a:cubicBezTo>
                    <a:pt x="915" y="6774"/>
                    <a:pt x="2301" y="7719"/>
                    <a:pt x="3876" y="7719"/>
                  </a:cubicBezTo>
                  <a:cubicBezTo>
                    <a:pt x="5451" y="7719"/>
                    <a:pt x="6806" y="6774"/>
                    <a:pt x="7405" y="5419"/>
                  </a:cubicBezTo>
                  <a:cubicBezTo>
                    <a:pt x="7594" y="4946"/>
                    <a:pt x="7720" y="4411"/>
                    <a:pt x="7720" y="3875"/>
                  </a:cubicBezTo>
                  <a:cubicBezTo>
                    <a:pt x="7720" y="3308"/>
                    <a:pt x="7594" y="2804"/>
                    <a:pt x="7405" y="2332"/>
                  </a:cubicBezTo>
                  <a:cubicBezTo>
                    <a:pt x="6806" y="945"/>
                    <a:pt x="5451" y="0"/>
                    <a:pt x="387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 name="Google Shape;69;p13"/>
          <p:cNvGrpSpPr/>
          <p:nvPr/>
        </p:nvGrpSpPr>
        <p:grpSpPr>
          <a:xfrm>
            <a:off x="7627546" y="3632577"/>
            <a:ext cx="365770" cy="365770"/>
            <a:chOff x="-3137650" y="2408950"/>
            <a:chExt cx="291450" cy="292125"/>
          </a:xfrm>
        </p:grpSpPr>
        <p:sp>
          <p:nvSpPr>
            <p:cNvPr id="70" name="Google Shape;70;p13"/>
            <p:cNvSpPr/>
            <p:nvPr/>
          </p:nvSpPr>
          <p:spPr>
            <a:xfrm>
              <a:off x="-3137650" y="2408950"/>
              <a:ext cx="291450" cy="292125"/>
            </a:xfrm>
            <a:custGeom>
              <a:rect b="b" l="l" r="r" t="t"/>
              <a:pathLst>
                <a:path extrusionOk="0" h="11685" w="11658">
                  <a:moveTo>
                    <a:pt x="10618" y="662"/>
                  </a:moveTo>
                  <a:cubicBezTo>
                    <a:pt x="10807" y="662"/>
                    <a:pt x="10964" y="851"/>
                    <a:pt x="10964" y="1040"/>
                  </a:cubicBezTo>
                  <a:lnTo>
                    <a:pt x="10964" y="2741"/>
                  </a:lnTo>
                  <a:lnTo>
                    <a:pt x="662" y="2741"/>
                  </a:lnTo>
                  <a:lnTo>
                    <a:pt x="662" y="1040"/>
                  </a:lnTo>
                  <a:cubicBezTo>
                    <a:pt x="662" y="851"/>
                    <a:pt x="820" y="662"/>
                    <a:pt x="1009" y="662"/>
                  </a:cubicBezTo>
                  <a:close/>
                  <a:moveTo>
                    <a:pt x="10964" y="3403"/>
                  </a:moveTo>
                  <a:lnTo>
                    <a:pt x="10964" y="8601"/>
                  </a:lnTo>
                  <a:cubicBezTo>
                    <a:pt x="10964" y="8790"/>
                    <a:pt x="10838" y="8947"/>
                    <a:pt x="10618" y="8947"/>
                  </a:cubicBezTo>
                  <a:lnTo>
                    <a:pt x="10145" y="8947"/>
                  </a:lnTo>
                  <a:cubicBezTo>
                    <a:pt x="10208" y="8727"/>
                    <a:pt x="10240" y="8443"/>
                    <a:pt x="10240" y="8160"/>
                  </a:cubicBezTo>
                  <a:lnTo>
                    <a:pt x="10240" y="5860"/>
                  </a:lnTo>
                  <a:cubicBezTo>
                    <a:pt x="10240" y="5673"/>
                    <a:pt x="10058" y="5531"/>
                    <a:pt x="9868" y="5531"/>
                  </a:cubicBezTo>
                  <a:cubicBezTo>
                    <a:pt x="9835" y="5531"/>
                    <a:pt x="9801" y="5535"/>
                    <a:pt x="9767" y="5545"/>
                  </a:cubicBezTo>
                  <a:cubicBezTo>
                    <a:pt x="9545" y="5641"/>
                    <a:pt x="9341" y="5691"/>
                    <a:pt x="9142" y="5691"/>
                  </a:cubicBezTo>
                  <a:cubicBezTo>
                    <a:pt x="8693" y="5691"/>
                    <a:pt x="8275" y="5439"/>
                    <a:pt x="7751" y="4915"/>
                  </a:cubicBezTo>
                  <a:cubicBezTo>
                    <a:pt x="7688" y="4868"/>
                    <a:pt x="7601" y="4844"/>
                    <a:pt x="7515" y="4844"/>
                  </a:cubicBezTo>
                  <a:cubicBezTo>
                    <a:pt x="7428" y="4844"/>
                    <a:pt x="7341" y="4868"/>
                    <a:pt x="7278" y="4915"/>
                  </a:cubicBezTo>
                  <a:cubicBezTo>
                    <a:pt x="6753" y="5440"/>
                    <a:pt x="6334" y="5677"/>
                    <a:pt x="5884" y="5677"/>
                  </a:cubicBezTo>
                  <a:cubicBezTo>
                    <a:pt x="5686" y="5677"/>
                    <a:pt x="5483" y="5631"/>
                    <a:pt x="5262" y="5545"/>
                  </a:cubicBezTo>
                  <a:cubicBezTo>
                    <a:pt x="5229" y="5535"/>
                    <a:pt x="5195" y="5531"/>
                    <a:pt x="5161" y="5531"/>
                  </a:cubicBezTo>
                  <a:cubicBezTo>
                    <a:pt x="4971" y="5531"/>
                    <a:pt x="4789" y="5673"/>
                    <a:pt x="4789" y="5860"/>
                  </a:cubicBezTo>
                  <a:lnTo>
                    <a:pt x="4789" y="8160"/>
                  </a:lnTo>
                  <a:cubicBezTo>
                    <a:pt x="4789" y="8443"/>
                    <a:pt x="4821" y="8664"/>
                    <a:pt x="4884" y="8947"/>
                  </a:cubicBezTo>
                  <a:lnTo>
                    <a:pt x="1009" y="8947"/>
                  </a:lnTo>
                  <a:cubicBezTo>
                    <a:pt x="820" y="8947"/>
                    <a:pt x="662" y="8790"/>
                    <a:pt x="662" y="8601"/>
                  </a:cubicBezTo>
                  <a:lnTo>
                    <a:pt x="662" y="3403"/>
                  </a:lnTo>
                  <a:close/>
                  <a:moveTo>
                    <a:pt x="7152" y="5923"/>
                  </a:moveTo>
                  <a:lnTo>
                    <a:pt x="7152" y="10838"/>
                  </a:lnTo>
                  <a:cubicBezTo>
                    <a:pt x="6144" y="10365"/>
                    <a:pt x="5451" y="9357"/>
                    <a:pt x="5451" y="8160"/>
                  </a:cubicBezTo>
                  <a:lnTo>
                    <a:pt x="5451" y="6301"/>
                  </a:lnTo>
                  <a:cubicBezTo>
                    <a:pt x="5604" y="6330"/>
                    <a:pt x="5750" y="6344"/>
                    <a:pt x="5891" y="6344"/>
                  </a:cubicBezTo>
                  <a:cubicBezTo>
                    <a:pt x="6359" y="6344"/>
                    <a:pt x="6765" y="6189"/>
                    <a:pt x="7152" y="5923"/>
                  </a:cubicBezTo>
                  <a:close/>
                  <a:moveTo>
                    <a:pt x="7877" y="5923"/>
                  </a:moveTo>
                  <a:cubicBezTo>
                    <a:pt x="8242" y="6166"/>
                    <a:pt x="8644" y="6353"/>
                    <a:pt x="9128" y="6353"/>
                  </a:cubicBezTo>
                  <a:cubicBezTo>
                    <a:pt x="9271" y="6353"/>
                    <a:pt x="9420" y="6337"/>
                    <a:pt x="9578" y="6301"/>
                  </a:cubicBezTo>
                  <a:lnTo>
                    <a:pt x="9578" y="8160"/>
                  </a:lnTo>
                  <a:cubicBezTo>
                    <a:pt x="9547" y="9357"/>
                    <a:pt x="8885" y="10365"/>
                    <a:pt x="7877" y="10838"/>
                  </a:cubicBezTo>
                  <a:lnTo>
                    <a:pt x="7877" y="5923"/>
                  </a:lnTo>
                  <a:close/>
                  <a:moveTo>
                    <a:pt x="1009" y="0"/>
                  </a:moveTo>
                  <a:cubicBezTo>
                    <a:pt x="473" y="0"/>
                    <a:pt x="1" y="473"/>
                    <a:pt x="1" y="1040"/>
                  </a:cubicBezTo>
                  <a:lnTo>
                    <a:pt x="1" y="8601"/>
                  </a:lnTo>
                  <a:cubicBezTo>
                    <a:pt x="1" y="9136"/>
                    <a:pt x="473" y="9609"/>
                    <a:pt x="1009" y="9609"/>
                  </a:cubicBezTo>
                  <a:lnTo>
                    <a:pt x="5073" y="9609"/>
                  </a:lnTo>
                  <a:cubicBezTo>
                    <a:pt x="5199" y="9893"/>
                    <a:pt x="5357" y="10145"/>
                    <a:pt x="5514" y="10365"/>
                  </a:cubicBezTo>
                  <a:cubicBezTo>
                    <a:pt x="5987" y="10995"/>
                    <a:pt x="6617" y="11436"/>
                    <a:pt x="7404" y="11657"/>
                  </a:cubicBezTo>
                  <a:cubicBezTo>
                    <a:pt x="7446" y="11657"/>
                    <a:pt x="7488" y="11685"/>
                    <a:pt x="7530" y="11685"/>
                  </a:cubicBezTo>
                  <a:cubicBezTo>
                    <a:pt x="7551" y="11685"/>
                    <a:pt x="7572" y="11678"/>
                    <a:pt x="7593" y="11657"/>
                  </a:cubicBezTo>
                  <a:cubicBezTo>
                    <a:pt x="8350" y="11436"/>
                    <a:pt x="9011" y="10995"/>
                    <a:pt x="9484" y="10365"/>
                  </a:cubicBezTo>
                  <a:cubicBezTo>
                    <a:pt x="9641" y="10145"/>
                    <a:pt x="9799" y="9893"/>
                    <a:pt x="9925" y="9609"/>
                  </a:cubicBezTo>
                  <a:lnTo>
                    <a:pt x="10618" y="9609"/>
                  </a:lnTo>
                  <a:cubicBezTo>
                    <a:pt x="11185" y="9609"/>
                    <a:pt x="11658" y="9136"/>
                    <a:pt x="11658" y="8601"/>
                  </a:cubicBezTo>
                  <a:lnTo>
                    <a:pt x="11658" y="1040"/>
                  </a:lnTo>
                  <a:cubicBezTo>
                    <a:pt x="11658" y="473"/>
                    <a:pt x="11217" y="0"/>
                    <a:pt x="1061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3"/>
            <p:cNvSpPr/>
            <p:nvPr/>
          </p:nvSpPr>
          <p:spPr>
            <a:xfrm>
              <a:off x="-3104575" y="2442800"/>
              <a:ext cx="18150" cy="17350"/>
            </a:xfrm>
            <a:custGeom>
              <a:rect b="b" l="l" r="r" t="t"/>
              <a:pathLst>
                <a:path extrusionOk="0" h="694" w="726">
                  <a:moveTo>
                    <a:pt x="348" y="1"/>
                  </a:moveTo>
                  <a:cubicBezTo>
                    <a:pt x="158" y="1"/>
                    <a:pt x="1" y="158"/>
                    <a:pt x="1" y="347"/>
                  </a:cubicBezTo>
                  <a:cubicBezTo>
                    <a:pt x="1" y="536"/>
                    <a:pt x="158" y="694"/>
                    <a:pt x="348" y="694"/>
                  </a:cubicBezTo>
                  <a:cubicBezTo>
                    <a:pt x="568" y="694"/>
                    <a:pt x="726" y="536"/>
                    <a:pt x="726" y="347"/>
                  </a:cubicBezTo>
                  <a:cubicBezTo>
                    <a:pt x="726" y="158"/>
                    <a:pt x="568" y="1"/>
                    <a:pt x="34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3"/>
            <p:cNvSpPr/>
            <p:nvPr/>
          </p:nvSpPr>
          <p:spPr>
            <a:xfrm>
              <a:off x="-3069900" y="2442800"/>
              <a:ext cx="17350" cy="17350"/>
            </a:xfrm>
            <a:custGeom>
              <a:rect b="b" l="l" r="r" t="t"/>
              <a:pathLst>
                <a:path extrusionOk="0" h="694" w="694">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3"/>
            <p:cNvSpPr/>
            <p:nvPr/>
          </p:nvSpPr>
          <p:spPr>
            <a:xfrm>
              <a:off x="-3035250" y="2442800"/>
              <a:ext cx="17350" cy="17350"/>
            </a:xfrm>
            <a:custGeom>
              <a:rect b="b" l="l" r="r" t="t"/>
              <a:pathLst>
                <a:path extrusionOk="0" h="694" w="694">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3"/>
            <p:cNvSpPr/>
            <p:nvPr/>
          </p:nvSpPr>
          <p:spPr>
            <a:xfrm>
              <a:off x="-3002175" y="2442800"/>
              <a:ext cx="120525" cy="17350"/>
            </a:xfrm>
            <a:custGeom>
              <a:rect b="b" l="l" r="r" t="t"/>
              <a:pathLst>
                <a:path extrusionOk="0" h="694" w="4821">
                  <a:moveTo>
                    <a:pt x="347" y="1"/>
                  </a:moveTo>
                  <a:cubicBezTo>
                    <a:pt x="158" y="1"/>
                    <a:pt x="1" y="158"/>
                    <a:pt x="1" y="347"/>
                  </a:cubicBezTo>
                  <a:cubicBezTo>
                    <a:pt x="32" y="536"/>
                    <a:pt x="190" y="694"/>
                    <a:pt x="347" y="694"/>
                  </a:cubicBezTo>
                  <a:lnTo>
                    <a:pt x="4443" y="694"/>
                  </a:lnTo>
                  <a:cubicBezTo>
                    <a:pt x="4663" y="694"/>
                    <a:pt x="4821" y="536"/>
                    <a:pt x="4821" y="347"/>
                  </a:cubicBezTo>
                  <a:cubicBezTo>
                    <a:pt x="4821" y="158"/>
                    <a:pt x="4663" y="1"/>
                    <a:pt x="444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75" name="Google Shape;75;p13"/>
          <p:cNvPicPr preferRelativeResize="0"/>
          <p:nvPr/>
        </p:nvPicPr>
        <p:blipFill rotWithShape="1">
          <a:blip r:embed="rId3">
            <a:alphaModFix/>
          </a:blip>
          <a:srcRect b="22734" l="0" r="0" t="22876"/>
          <a:stretch/>
        </p:blipFill>
        <p:spPr>
          <a:xfrm>
            <a:off x="7393225" y="179175"/>
            <a:ext cx="1586425" cy="484850"/>
          </a:xfrm>
          <a:prstGeom prst="rect">
            <a:avLst/>
          </a:prstGeom>
          <a:noFill/>
          <a:ln>
            <a:noFill/>
          </a:ln>
        </p:spPr>
      </p:pic>
      <p:pic>
        <p:nvPicPr>
          <p:cNvPr id="76" name="Google Shape;76;p13"/>
          <p:cNvPicPr preferRelativeResize="0"/>
          <p:nvPr/>
        </p:nvPicPr>
        <p:blipFill rotWithShape="1">
          <a:blip r:embed="rId4">
            <a:alphaModFix/>
          </a:blip>
          <a:srcRect b="41784" l="33919" r="10962" t="12045"/>
          <a:stretch/>
        </p:blipFill>
        <p:spPr>
          <a:xfrm>
            <a:off x="6306600" y="1136350"/>
            <a:ext cx="578800" cy="4848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4"/>
          <p:cNvSpPr/>
          <p:nvPr/>
        </p:nvSpPr>
        <p:spPr>
          <a:xfrm>
            <a:off x="3226550" y="1162050"/>
            <a:ext cx="2790000" cy="1400100"/>
          </a:xfrm>
          <a:prstGeom prst="roundRect">
            <a:avLst>
              <a:gd fmla="val 16667" name="adj"/>
            </a:avLst>
          </a:prstGeom>
          <a:solidFill>
            <a:srgbClr val="E99B27">
              <a:alpha val="1254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4"/>
          <p:cNvSpPr/>
          <p:nvPr/>
        </p:nvSpPr>
        <p:spPr>
          <a:xfrm>
            <a:off x="6301275" y="3401549"/>
            <a:ext cx="2594700" cy="1327200"/>
          </a:xfrm>
          <a:prstGeom prst="roundRect">
            <a:avLst>
              <a:gd fmla="val 16667" name="adj"/>
            </a:avLst>
          </a:prstGeom>
          <a:solidFill>
            <a:srgbClr val="EA4827">
              <a:alpha val="1254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4"/>
          <p:cNvSpPr/>
          <p:nvPr/>
        </p:nvSpPr>
        <p:spPr>
          <a:xfrm>
            <a:off x="104525" y="3401550"/>
            <a:ext cx="2790000" cy="1327200"/>
          </a:xfrm>
          <a:prstGeom prst="roundRect">
            <a:avLst>
              <a:gd fmla="val 16667" name="adj"/>
            </a:avLst>
          </a:prstGeom>
          <a:solidFill>
            <a:srgbClr val="E4EA27">
              <a:alpha val="1254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4"/>
          <p:cNvSpPr txBox="1"/>
          <p:nvPr>
            <p:ph type="title"/>
          </p:nvPr>
        </p:nvSpPr>
        <p:spPr>
          <a:xfrm>
            <a:off x="457200" y="411475"/>
            <a:ext cx="82296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Introduction</a:t>
            </a:r>
            <a:endParaRPr/>
          </a:p>
        </p:txBody>
      </p:sp>
      <p:grpSp>
        <p:nvGrpSpPr>
          <p:cNvPr id="85" name="Google Shape;85;p14"/>
          <p:cNvGrpSpPr/>
          <p:nvPr/>
        </p:nvGrpSpPr>
        <p:grpSpPr>
          <a:xfrm>
            <a:off x="6251025" y="3100513"/>
            <a:ext cx="2695200" cy="1514050"/>
            <a:chOff x="6206225" y="934075"/>
            <a:chExt cx="2695200" cy="1514050"/>
          </a:xfrm>
        </p:grpSpPr>
        <p:sp>
          <p:nvSpPr>
            <p:cNvPr id="86" name="Google Shape;86;p14"/>
            <p:cNvSpPr/>
            <p:nvPr/>
          </p:nvSpPr>
          <p:spPr>
            <a:xfrm>
              <a:off x="7379250" y="934075"/>
              <a:ext cx="519600" cy="371400"/>
            </a:xfrm>
            <a:prstGeom prst="roundRect">
              <a:avLst>
                <a:gd fmla="val 16667"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03</a:t>
              </a:r>
              <a:endParaRPr b="1" sz="1800">
                <a:solidFill>
                  <a:schemeClr val="lt1"/>
                </a:solidFill>
                <a:latin typeface="Fira Sans Extra Condensed"/>
                <a:ea typeface="Fira Sans Extra Condensed"/>
                <a:cs typeface="Fira Sans Extra Condensed"/>
                <a:sym typeface="Fira Sans Extra Condensed"/>
              </a:endParaRPr>
            </a:p>
          </p:txBody>
        </p:sp>
        <p:sp>
          <p:nvSpPr>
            <p:cNvPr id="87" name="Google Shape;87;p14"/>
            <p:cNvSpPr txBox="1"/>
            <p:nvPr/>
          </p:nvSpPr>
          <p:spPr>
            <a:xfrm>
              <a:off x="6525125" y="1344500"/>
              <a:ext cx="2057400" cy="33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Fira Sans Extra Condensed"/>
                  <a:ea typeface="Fira Sans Extra Condensed"/>
                  <a:cs typeface="Fira Sans Extra Condensed"/>
                  <a:sym typeface="Fira Sans Extra Condensed"/>
                </a:rPr>
                <a:t>Branch Time</a:t>
              </a:r>
              <a:endParaRPr b="1" sz="1800">
                <a:solidFill>
                  <a:srgbClr val="000000"/>
                </a:solidFill>
                <a:latin typeface="Fira Sans Extra Condensed"/>
                <a:ea typeface="Fira Sans Extra Condensed"/>
                <a:cs typeface="Fira Sans Extra Condensed"/>
                <a:sym typeface="Fira Sans Extra Condensed"/>
              </a:endParaRPr>
            </a:p>
          </p:txBody>
        </p:sp>
        <p:sp>
          <p:nvSpPr>
            <p:cNvPr id="88" name="Google Shape;88;p14"/>
            <p:cNvSpPr txBox="1"/>
            <p:nvPr/>
          </p:nvSpPr>
          <p:spPr>
            <a:xfrm>
              <a:off x="6206225" y="1595525"/>
              <a:ext cx="2695200" cy="852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Analysing the time spent by the Branch to submit/resubmit application to review team.</a:t>
              </a:r>
              <a:endParaRPr>
                <a:latin typeface="Roboto"/>
                <a:ea typeface="Roboto"/>
                <a:cs typeface="Roboto"/>
                <a:sym typeface="Roboto"/>
              </a:endParaRPr>
            </a:p>
          </p:txBody>
        </p:sp>
      </p:grpSp>
      <p:grpSp>
        <p:nvGrpSpPr>
          <p:cNvPr id="89" name="Google Shape;89;p14"/>
          <p:cNvGrpSpPr/>
          <p:nvPr/>
        </p:nvGrpSpPr>
        <p:grpSpPr>
          <a:xfrm>
            <a:off x="3273950" y="934075"/>
            <a:ext cx="2695200" cy="1363675"/>
            <a:chOff x="3273950" y="934075"/>
            <a:chExt cx="2695200" cy="1363675"/>
          </a:xfrm>
        </p:grpSpPr>
        <p:sp>
          <p:nvSpPr>
            <p:cNvPr id="90" name="Google Shape;90;p14"/>
            <p:cNvSpPr/>
            <p:nvPr/>
          </p:nvSpPr>
          <p:spPr>
            <a:xfrm>
              <a:off x="4302675" y="934075"/>
              <a:ext cx="651000" cy="37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AIM</a:t>
              </a:r>
              <a:endParaRPr b="1" sz="1800">
                <a:solidFill>
                  <a:schemeClr val="lt1"/>
                </a:solidFill>
                <a:latin typeface="Fira Sans Extra Condensed"/>
                <a:ea typeface="Fira Sans Extra Condensed"/>
                <a:cs typeface="Fira Sans Extra Condensed"/>
                <a:sym typeface="Fira Sans Extra Condensed"/>
              </a:endParaRPr>
            </a:p>
          </p:txBody>
        </p:sp>
        <p:sp>
          <p:nvSpPr>
            <p:cNvPr id="91" name="Google Shape;91;p14"/>
            <p:cNvSpPr txBox="1"/>
            <p:nvPr/>
          </p:nvSpPr>
          <p:spPr>
            <a:xfrm>
              <a:off x="3273950" y="1580450"/>
              <a:ext cx="2695200" cy="71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oboto"/>
                  <a:ea typeface="Roboto"/>
                  <a:cs typeface="Roboto"/>
                  <a:sym typeface="Roboto"/>
                </a:rPr>
                <a:t>To reduce Mortgage approval time</a:t>
              </a:r>
              <a:endParaRPr b="1">
                <a:latin typeface="Roboto"/>
                <a:ea typeface="Roboto"/>
                <a:cs typeface="Roboto"/>
                <a:sym typeface="Roboto"/>
              </a:endParaRPr>
            </a:p>
            <a:p>
              <a:pPr indent="0" lvl="0" marL="0" rtl="0" algn="ctr">
                <a:spcBef>
                  <a:spcPts val="0"/>
                </a:spcBef>
                <a:spcAft>
                  <a:spcPts val="0"/>
                </a:spcAft>
                <a:buNone/>
              </a:pPr>
              <a:r>
                <a:rPr b="1" lang="en">
                  <a:latin typeface="Roboto"/>
                  <a:ea typeface="Roboto"/>
                  <a:cs typeface="Roboto"/>
                  <a:sym typeface="Roboto"/>
                </a:rPr>
                <a:t>For Improving Customer Experience</a:t>
              </a:r>
              <a:endParaRPr b="1">
                <a:latin typeface="Roboto"/>
                <a:ea typeface="Roboto"/>
                <a:cs typeface="Roboto"/>
                <a:sym typeface="Roboto"/>
              </a:endParaRPr>
            </a:p>
          </p:txBody>
        </p:sp>
      </p:grpSp>
      <p:grpSp>
        <p:nvGrpSpPr>
          <p:cNvPr id="92" name="Google Shape;92;p14"/>
          <p:cNvGrpSpPr/>
          <p:nvPr/>
        </p:nvGrpSpPr>
        <p:grpSpPr>
          <a:xfrm>
            <a:off x="151825" y="3084894"/>
            <a:ext cx="2790000" cy="1451366"/>
            <a:chOff x="180300" y="934075"/>
            <a:chExt cx="2790000" cy="1299343"/>
          </a:xfrm>
        </p:grpSpPr>
        <p:sp>
          <p:nvSpPr>
            <p:cNvPr id="93" name="Google Shape;93;p14"/>
            <p:cNvSpPr txBox="1"/>
            <p:nvPr/>
          </p:nvSpPr>
          <p:spPr>
            <a:xfrm>
              <a:off x="180300" y="1305467"/>
              <a:ext cx="2790000" cy="33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Fira Sans Extra Condensed"/>
                  <a:ea typeface="Fira Sans Extra Condensed"/>
                  <a:cs typeface="Fira Sans Extra Condensed"/>
                  <a:sym typeface="Fira Sans Extra Condensed"/>
                </a:rPr>
                <a:t>Time spent by Pre-Fund Team</a:t>
              </a:r>
              <a:endParaRPr b="1" sz="1800">
                <a:solidFill>
                  <a:srgbClr val="000000"/>
                </a:solidFill>
                <a:latin typeface="Fira Sans Extra Condensed"/>
                <a:ea typeface="Fira Sans Extra Condensed"/>
                <a:cs typeface="Fira Sans Extra Condensed"/>
                <a:sym typeface="Fira Sans Extra Condensed"/>
              </a:endParaRPr>
            </a:p>
          </p:txBody>
        </p:sp>
        <p:sp>
          <p:nvSpPr>
            <p:cNvPr id="94" name="Google Shape;94;p14"/>
            <p:cNvSpPr txBox="1"/>
            <p:nvPr/>
          </p:nvSpPr>
          <p:spPr>
            <a:xfrm>
              <a:off x="312450" y="1672118"/>
              <a:ext cx="2525700" cy="561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Analysing the time spent by Pre-Fund team to review notifications</a:t>
              </a:r>
              <a:endParaRPr>
                <a:latin typeface="Roboto"/>
                <a:ea typeface="Roboto"/>
                <a:cs typeface="Roboto"/>
                <a:sym typeface="Roboto"/>
              </a:endParaRPr>
            </a:p>
          </p:txBody>
        </p:sp>
        <p:sp>
          <p:nvSpPr>
            <p:cNvPr id="95" name="Google Shape;95;p14"/>
            <p:cNvSpPr/>
            <p:nvPr/>
          </p:nvSpPr>
          <p:spPr>
            <a:xfrm>
              <a:off x="1226100" y="934075"/>
              <a:ext cx="519600" cy="3714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01</a:t>
              </a:r>
              <a:endParaRPr b="1" sz="1800">
                <a:solidFill>
                  <a:schemeClr val="lt1"/>
                </a:solidFill>
                <a:latin typeface="Fira Sans Extra Condensed"/>
                <a:ea typeface="Fira Sans Extra Condensed"/>
                <a:cs typeface="Fira Sans Extra Condensed"/>
                <a:sym typeface="Fira Sans Extra Condensed"/>
              </a:endParaRPr>
            </a:p>
          </p:txBody>
        </p:sp>
      </p:grpSp>
      <p:sp>
        <p:nvSpPr>
          <p:cNvPr id="96" name="Google Shape;96;p14"/>
          <p:cNvSpPr/>
          <p:nvPr/>
        </p:nvSpPr>
        <p:spPr>
          <a:xfrm>
            <a:off x="3403075" y="3328500"/>
            <a:ext cx="2480700" cy="1400100"/>
          </a:xfrm>
          <a:prstGeom prst="roundRect">
            <a:avLst>
              <a:gd fmla="val 16667" name="adj"/>
            </a:avLst>
          </a:prstGeom>
          <a:solidFill>
            <a:srgbClr val="8027EA">
              <a:alpha val="1254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7" name="Google Shape;97;p14"/>
          <p:cNvGrpSpPr/>
          <p:nvPr/>
        </p:nvGrpSpPr>
        <p:grpSpPr>
          <a:xfrm>
            <a:off x="3273950" y="3100525"/>
            <a:ext cx="2695200" cy="1435725"/>
            <a:chOff x="114000" y="3005625"/>
            <a:chExt cx="2695200" cy="1435725"/>
          </a:xfrm>
        </p:grpSpPr>
        <p:sp>
          <p:nvSpPr>
            <p:cNvPr id="98" name="Google Shape;98;p14"/>
            <p:cNvSpPr txBox="1"/>
            <p:nvPr/>
          </p:nvSpPr>
          <p:spPr>
            <a:xfrm>
              <a:off x="457201" y="3416050"/>
              <a:ext cx="2057400" cy="33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Fira Sans Extra Condensed"/>
                  <a:ea typeface="Fira Sans Extra Condensed"/>
                  <a:cs typeface="Fira Sans Extra Condensed"/>
                  <a:sym typeface="Fira Sans Extra Condensed"/>
                </a:rPr>
                <a:t>First Time Right</a:t>
              </a:r>
              <a:endParaRPr b="1" sz="1800">
                <a:solidFill>
                  <a:srgbClr val="000000"/>
                </a:solidFill>
                <a:latin typeface="Fira Sans Extra Condensed"/>
                <a:ea typeface="Fira Sans Extra Condensed"/>
                <a:cs typeface="Fira Sans Extra Condensed"/>
                <a:sym typeface="Fira Sans Extra Condensed"/>
              </a:endParaRPr>
            </a:p>
          </p:txBody>
        </p:sp>
        <p:sp>
          <p:nvSpPr>
            <p:cNvPr id="99" name="Google Shape;99;p14"/>
            <p:cNvSpPr txBox="1"/>
            <p:nvPr/>
          </p:nvSpPr>
          <p:spPr>
            <a:xfrm>
              <a:off x="114000" y="3861150"/>
              <a:ext cx="2695200" cy="58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Number of First Submits.</a:t>
              </a:r>
              <a:endParaRPr>
                <a:latin typeface="Roboto"/>
                <a:ea typeface="Roboto"/>
                <a:cs typeface="Roboto"/>
                <a:sym typeface="Roboto"/>
              </a:endParaRPr>
            </a:p>
            <a:p>
              <a:pPr indent="0" lvl="0" marL="0" rtl="0" algn="ctr">
                <a:spcBef>
                  <a:spcPts val="0"/>
                </a:spcBef>
                <a:spcAft>
                  <a:spcPts val="0"/>
                </a:spcAft>
                <a:buNone/>
              </a:pPr>
              <a:r>
                <a:rPr lang="en">
                  <a:latin typeface="Roboto"/>
                  <a:ea typeface="Roboto"/>
                  <a:cs typeface="Roboto"/>
                  <a:sym typeface="Roboto"/>
                </a:rPr>
                <a:t>Number of Re-submits per application</a:t>
              </a:r>
              <a:endParaRPr>
                <a:latin typeface="Roboto"/>
                <a:ea typeface="Roboto"/>
                <a:cs typeface="Roboto"/>
                <a:sym typeface="Roboto"/>
              </a:endParaRPr>
            </a:p>
          </p:txBody>
        </p:sp>
        <p:sp>
          <p:nvSpPr>
            <p:cNvPr id="100" name="Google Shape;100;p14"/>
            <p:cNvSpPr/>
            <p:nvPr/>
          </p:nvSpPr>
          <p:spPr>
            <a:xfrm>
              <a:off x="1226100" y="3005625"/>
              <a:ext cx="519600" cy="371400"/>
            </a:xfrm>
            <a:prstGeom prst="roundRect">
              <a:avLst>
                <a:gd fmla="val 16667"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02</a:t>
              </a:r>
              <a:endParaRPr b="1" sz="1800">
                <a:solidFill>
                  <a:schemeClr val="lt1"/>
                </a:solidFill>
                <a:latin typeface="Fira Sans Extra Condensed"/>
                <a:ea typeface="Fira Sans Extra Condensed"/>
                <a:cs typeface="Fira Sans Extra Condensed"/>
                <a:sym typeface="Fira Sans Extra Condensed"/>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pic>
        <p:nvPicPr>
          <p:cNvPr id="105" name="Google Shape;105;p15"/>
          <p:cNvPicPr preferRelativeResize="0"/>
          <p:nvPr/>
        </p:nvPicPr>
        <p:blipFill rotWithShape="1">
          <a:blip r:embed="rId3">
            <a:alphaModFix/>
          </a:blip>
          <a:srcRect b="7128" l="1654" r="25798" t="14280"/>
          <a:stretch/>
        </p:blipFill>
        <p:spPr>
          <a:xfrm>
            <a:off x="67250" y="2960825"/>
            <a:ext cx="5649150" cy="2216700"/>
          </a:xfrm>
          <a:prstGeom prst="rect">
            <a:avLst/>
          </a:prstGeom>
          <a:noFill/>
          <a:ln>
            <a:noFill/>
          </a:ln>
        </p:spPr>
      </p:pic>
      <p:pic>
        <p:nvPicPr>
          <p:cNvPr id="106" name="Google Shape;106;p15"/>
          <p:cNvPicPr preferRelativeResize="0"/>
          <p:nvPr/>
        </p:nvPicPr>
        <p:blipFill rotWithShape="1">
          <a:blip r:embed="rId4">
            <a:alphaModFix/>
          </a:blip>
          <a:srcRect b="6250" l="1472" r="25614" t="15034"/>
          <a:stretch/>
        </p:blipFill>
        <p:spPr>
          <a:xfrm>
            <a:off x="3580975" y="864288"/>
            <a:ext cx="5178600" cy="2096525"/>
          </a:xfrm>
          <a:prstGeom prst="rect">
            <a:avLst/>
          </a:prstGeom>
          <a:noFill/>
          <a:ln>
            <a:noFill/>
          </a:ln>
        </p:spPr>
      </p:pic>
      <p:sp>
        <p:nvSpPr>
          <p:cNvPr id="107" name="Google Shape;107;p15"/>
          <p:cNvSpPr/>
          <p:nvPr/>
        </p:nvSpPr>
        <p:spPr>
          <a:xfrm>
            <a:off x="6083000" y="3781300"/>
            <a:ext cx="3002400" cy="1161600"/>
          </a:xfrm>
          <a:prstGeom prst="roundRect">
            <a:avLst>
              <a:gd fmla="val 50000" name="adj"/>
            </a:avLst>
          </a:prstGeom>
          <a:solidFill>
            <a:srgbClr val="E99B27">
              <a:alpha val="25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5"/>
          <p:cNvSpPr/>
          <p:nvPr/>
        </p:nvSpPr>
        <p:spPr>
          <a:xfrm>
            <a:off x="463750" y="1710750"/>
            <a:ext cx="2666400" cy="846300"/>
          </a:xfrm>
          <a:prstGeom prst="roundRect">
            <a:avLst>
              <a:gd fmla="val 50000" name="adj"/>
            </a:avLst>
          </a:prstGeom>
          <a:solidFill>
            <a:srgbClr val="E4EA27">
              <a:alpha val="25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5"/>
          <p:cNvSpPr txBox="1"/>
          <p:nvPr>
            <p:ph type="title"/>
          </p:nvPr>
        </p:nvSpPr>
        <p:spPr>
          <a:xfrm>
            <a:off x="115950" y="189725"/>
            <a:ext cx="8748000" cy="579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800"/>
              <a:t>Showcase which Regions and Districts were the worst performing when it comes to first time right.</a:t>
            </a:r>
            <a:endParaRPr b="0" sz="300">
              <a:latin typeface="Arial"/>
              <a:ea typeface="Arial"/>
              <a:cs typeface="Arial"/>
              <a:sym typeface="Arial"/>
            </a:endParaRPr>
          </a:p>
          <a:p>
            <a:pPr indent="0" lvl="0" marL="0" rtl="0" algn="ctr">
              <a:spcBef>
                <a:spcPts val="0"/>
              </a:spcBef>
              <a:spcAft>
                <a:spcPts val="0"/>
              </a:spcAft>
              <a:buClr>
                <a:schemeClr val="dk1"/>
              </a:buClr>
              <a:buSzPts val="1100"/>
              <a:buFont typeface="Arial"/>
              <a:buNone/>
            </a:pPr>
            <a:r>
              <a:rPr b="0" lang="en" sz="100">
                <a:latin typeface="Arial"/>
                <a:ea typeface="Arial"/>
                <a:cs typeface="Arial"/>
                <a:sym typeface="Arial"/>
              </a:rPr>
              <a:t>		</a:t>
            </a:r>
            <a:endParaRPr b="0" sz="100">
              <a:latin typeface="Arial"/>
              <a:ea typeface="Arial"/>
              <a:cs typeface="Arial"/>
              <a:sym typeface="Arial"/>
            </a:endParaRPr>
          </a:p>
          <a:p>
            <a:pPr indent="0" lvl="0" marL="0" rtl="0" algn="ctr">
              <a:spcBef>
                <a:spcPts val="0"/>
              </a:spcBef>
              <a:spcAft>
                <a:spcPts val="0"/>
              </a:spcAft>
              <a:buNone/>
            </a:pPr>
            <a:r>
              <a:t/>
            </a:r>
            <a:endParaRPr sz="1600"/>
          </a:p>
        </p:txBody>
      </p:sp>
      <p:grpSp>
        <p:nvGrpSpPr>
          <p:cNvPr id="110" name="Google Shape;110;p15"/>
          <p:cNvGrpSpPr/>
          <p:nvPr/>
        </p:nvGrpSpPr>
        <p:grpSpPr>
          <a:xfrm>
            <a:off x="5765485" y="3781303"/>
            <a:ext cx="3267122" cy="924225"/>
            <a:chOff x="5729200" y="700383"/>
            <a:chExt cx="2610982" cy="675307"/>
          </a:xfrm>
        </p:grpSpPr>
        <p:sp>
          <p:nvSpPr>
            <p:cNvPr id="111" name="Google Shape;111;p15"/>
            <p:cNvSpPr txBox="1"/>
            <p:nvPr/>
          </p:nvSpPr>
          <p:spPr>
            <a:xfrm>
              <a:off x="5729200" y="700383"/>
              <a:ext cx="2487300" cy="3318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n" sz="1800">
                  <a:latin typeface="Fira Sans Extra Condensed"/>
                  <a:ea typeface="Fira Sans Extra Condensed"/>
                  <a:cs typeface="Fira Sans Extra Condensed"/>
                  <a:sym typeface="Fira Sans Extra Condensed"/>
                </a:rPr>
                <a:t>Worst Performing District</a:t>
              </a:r>
              <a:endParaRPr b="1" sz="1800">
                <a:solidFill>
                  <a:srgbClr val="000000"/>
                </a:solidFill>
                <a:latin typeface="Fira Sans Extra Condensed"/>
                <a:ea typeface="Fira Sans Extra Condensed"/>
                <a:cs typeface="Fira Sans Extra Condensed"/>
                <a:sym typeface="Fira Sans Extra Condensed"/>
              </a:endParaRPr>
            </a:p>
          </p:txBody>
        </p:sp>
        <p:sp>
          <p:nvSpPr>
            <p:cNvPr id="112" name="Google Shape;112;p15"/>
            <p:cNvSpPr txBox="1"/>
            <p:nvPr/>
          </p:nvSpPr>
          <p:spPr>
            <a:xfrm>
              <a:off x="5796482" y="987190"/>
              <a:ext cx="2543700" cy="3885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300">
                  <a:latin typeface="Roboto"/>
                  <a:ea typeface="Roboto"/>
                  <a:cs typeface="Roboto"/>
                  <a:sym typeface="Roboto"/>
                </a:rPr>
                <a:t>SOUTHSHORE &amp; QUEBEC CITY at </a:t>
              </a:r>
              <a:r>
                <a:rPr b="1" lang="en" sz="1300">
                  <a:latin typeface="Roboto"/>
                  <a:ea typeface="Roboto"/>
                  <a:cs typeface="Roboto"/>
                  <a:sym typeface="Roboto"/>
                </a:rPr>
                <a:t>78%</a:t>
              </a:r>
              <a:endParaRPr b="1" sz="1300">
                <a:latin typeface="Roboto"/>
                <a:ea typeface="Roboto"/>
                <a:cs typeface="Roboto"/>
                <a:sym typeface="Roboto"/>
              </a:endParaRPr>
            </a:p>
            <a:p>
              <a:pPr indent="0" lvl="0" marL="0" rtl="0" algn="r">
                <a:spcBef>
                  <a:spcPts val="0"/>
                </a:spcBef>
                <a:spcAft>
                  <a:spcPts val="0"/>
                </a:spcAft>
                <a:buNone/>
              </a:pPr>
              <a:r>
                <a:rPr lang="en" sz="1300">
                  <a:latin typeface="Roboto"/>
                  <a:ea typeface="Roboto"/>
                  <a:cs typeface="Roboto"/>
                  <a:sym typeface="Roboto"/>
                </a:rPr>
                <a:t>ALBERTA SOUTH at 74%</a:t>
              </a:r>
              <a:endParaRPr sz="1300">
                <a:latin typeface="Roboto"/>
                <a:ea typeface="Roboto"/>
                <a:cs typeface="Roboto"/>
                <a:sym typeface="Roboto"/>
              </a:endParaRPr>
            </a:p>
          </p:txBody>
        </p:sp>
      </p:grpSp>
      <p:grpSp>
        <p:nvGrpSpPr>
          <p:cNvPr id="113" name="Google Shape;113;p15"/>
          <p:cNvGrpSpPr/>
          <p:nvPr/>
        </p:nvGrpSpPr>
        <p:grpSpPr>
          <a:xfrm>
            <a:off x="642950" y="1716725"/>
            <a:ext cx="2487300" cy="846151"/>
            <a:chOff x="5771367" y="700363"/>
            <a:chExt cx="2487300" cy="846151"/>
          </a:xfrm>
        </p:grpSpPr>
        <p:sp>
          <p:nvSpPr>
            <p:cNvPr id="114" name="Google Shape;114;p15"/>
            <p:cNvSpPr txBox="1"/>
            <p:nvPr/>
          </p:nvSpPr>
          <p:spPr>
            <a:xfrm>
              <a:off x="5771367" y="700363"/>
              <a:ext cx="2487300" cy="331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latin typeface="Fira Sans Extra Condensed"/>
                  <a:ea typeface="Fira Sans Extra Condensed"/>
                  <a:cs typeface="Fira Sans Extra Condensed"/>
                  <a:sym typeface="Fira Sans Extra Condensed"/>
                </a:rPr>
                <a:t>Worst Performing Region</a:t>
              </a:r>
              <a:endParaRPr b="1" sz="1800">
                <a:solidFill>
                  <a:srgbClr val="000000"/>
                </a:solidFill>
                <a:latin typeface="Fira Sans Extra Condensed"/>
                <a:ea typeface="Fira Sans Extra Condensed"/>
                <a:cs typeface="Fira Sans Extra Condensed"/>
                <a:sym typeface="Fira Sans Extra Condensed"/>
              </a:endParaRPr>
            </a:p>
          </p:txBody>
        </p:sp>
        <p:sp>
          <p:nvSpPr>
            <p:cNvPr id="115" name="Google Shape;115;p15"/>
            <p:cNvSpPr txBox="1"/>
            <p:nvPr/>
          </p:nvSpPr>
          <p:spPr>
            <a:xfrm>
              <a:off x="6053042" y="1039813"/>
              <a:ext cx="1981200" cy="50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300">
                  <a:latin typeface="Roboto"/>
                  <a:ea typeface="Roboto"/>
                  <a:cs typeface="Roboto"/>
                  <a:sym typeface="Roboto"/>
                </a:rPr>
                <a:t>PRAIRIE</a:t>
              </a:r>
              <a:r>
                <a:rPr lang="en" sz="1300">
                  <a:latin typeface="Roboto"/>
                  <a:ea typeface="Roboto"/>
                  <a:cs typeface="Roboto"/>
                  <a:sym typeface="Roboto"/>
                </a:rPr>
                <a:t> at </a:t>
              </a:r>
              <a:r>
                <a:rPr b="1" lang="en" sz="1300">
                  <a:latin typeface="Roboto"/>
                  <a:ea typeface="Roboto"/>
                  <a:cs typeface="Roboto"/>
                  <a:sym typeface="Roboto"/>
                </a:rPr>
                <a:t>69%</a:t>
              </a:r>
              <a:endParaRPr b="1" sz="1300">
                <a:latin typeface="Roboto"/>
                <a:ea typeface="Roboto"/>
                <a:cs typeface="Roboto"/>
                <a:sym typeface="Roboto"/>
              </a:endParaRPr>
            </a:p>
            <a:p>
              <a:pPr indent="0" lvl="0" marL="0" rtl="0" algn="l">
                <a:spcBef>
                  <a:spcPts val="0"/>
                </a:spcBef>
                <a:spcAft>
                  <a:spcPts val="0"/>
                </a:spcAft>
                <a:buNone/>
              </a:pPr>
              <a:r>
                <a:rPr lang="en" sz="1300">
                  <a:latin typeface="Roboto"/>
                  <a:ea typeface="Roboto"/>
                  <a:cs typeface="Roboto"/>
                  <a:sym typeface="Roboto"/>
                </a:rPr>
                <a:t>BC &amp; YUKON at 68%</a:t>
              </a:r>
              <a:endParaRPr sz="1300">
                <a:latin typeface="Roboto"/>
                <a:ea typeface="Roboto"/>
                <a:cs typeface="Roboto"/>
                <a:sym typeface="Roboto"/>
              </a:endParaRPr>
            </a:p>
          </p:txBody>
        </p:sp>
      </p:grpSp>
      <p:cxnSp>
        <p:nvCxnSpPr>
          <p:cNvPr id="116" name="Google Shape;116;p15"/>
          <p:cNvCxnSpPr>
            <a:stCxn id="107" idx="1"/>
            <a:endCxn id="117" idx="3"/>
          </p:cNvCxnSpPr>
          <p:nvPr/>
        </p:nvCxnSpPr>
        <p:spPr>
          <a:xfrm rot="10800000">
            <a:off x="5716400" y="4108300"/>
            <a:ext cx="366600" cy="253800"/>
          </a:xfrm>
          <a:prstGeom prst="curvedConnector3">
            <a:avLst>
              <a:gd fmla="val 50000" name="adj1"/>
            </a:avLst>
          </a:prstGeom>
          <a:noFill/>
          <a:ln cap="flat" cmpd="sng" w="9525">
            <a:solidFill>
              <a:schemeClr val="dk2"/>
            </a:solidFill>
            <a:prstDash val="solid"/>
            <a:round/>
            <a:headEnd len="med" w="med" type="none"/>
            <a:tailEnd len="med" w="med" type="stealth"/>
          </a:ln>
        </p:spPr>
      </p:cxnSp>
      <p:pic>
        <p:nvPicPr>
          <p:cNvPr id="118" name="Google Shape;118;p15"/>
          <p:cNvPicPr preferRelativeResize="0"/>
          <p:nvPr/>
        </p:nvPicPr>
        <p:blipFill rotWithShape="1">
          <a:blip r:embed="rId5">
            <a:alphaModFix/>
          </a:blip>
          <a:srcRect b="14536" l="0" r="0" t="19207"/>
          <a:stretch/>
        </p:blipFill>
        <p:spPr>
          <a:xfrm>
            <a:off x="600775" y="1058400"/>
            <a:ext cx="2943825" cy="384012"/>
          </a:xfrm>
          <a:prstGeom prst="rect">
            <a:avLst/>
          </a:prstGeom>
          <a:noFill/>
          <a:ln>
            <a:noFill/>
          </a:ln>
        </p:spPr>
      </p:pic>
      <p:sp>
        <p:nvSpPr>
          <p:cNvPr id="119" name="Google Shape;119;p15"/>
          <p:cNvSpPr/>
          <p:nvPr/>
        </p:nvSpPr>
        <p:spPr>
          <a:xfrm>
            <a:off x="3729625" y="2787900"/>
            <a:ext cx="1356000" cy="253800"/>
          </a:xfrm>
          <a:prstGeom prst="ellipse">
            <a:avLst/>
          </a:prstGeom>
          <a:solidFill>
            <a:srgbClr val="F6B26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Fira Sans Extra Condensed"/>
                <a:ea typeface="Fira Sans Extra Condensed"/>
                <a:cs typeface="Fira Sans Extra Condensed"/>
                <a:sym typeface="Fira Sans Extra Condensed"/>
              </a:rPr>
              <a:t>PRAIRIE Worst</a:t>
            </a:r>
            <a:endParaRPr sz="1100">
              <a:solidFill>
                <a:schemeClr val="lt1"/>
              </a:solidFill>
              <a:latin typeface="Fira Sans Extra Condensed"/>
              <a:ea typeface="Fira Sans Extra Condensed"/>
              <a:cs typeface="Fira Sans Extra Condensed"/>
              <a:sym typeface="Fira Sans Extra Condensed"/>
            </a:endParaRPr>
          </a:p>
        </p:txBody>
      </p:sp>
      <p:cxnSp>
        <p:nvCxnSpPr>
          <p:cNvPr id="120" name="Google Shape;120;p15"/>
          <p:cNvCxnSpPr/>
          <p:nvPr/>
        </p:nvCxnSpPr>
        <p:spPr>
          <a:xfrm flipH="1" rot="10800000">
            <a:off x="2751175" y="1858726"/>
            <a:ext cx="829800" cy="459300"/>
          </a:xfrm>
          <a:prstGeom prst="curvedConnector3">
            <a:avLst>
              <a:gd fmla="val 50000" name="adj1"/>
            </a:avLst>
          </a:prstGeom>
          <a:noFill/>
          <a:ln cap="flat" cmpd="sng" w="9525">
            <a:solidFill>
              <a:schemeClr val="dk2"/>
            </a:solidFill>
            <a:prstDash val="solid"/>
            <a:round/>
            <a:headEnd len="med" w="med" type="none"/>
            <a:tailEnd len="med" w="med" type="stealth"/>
          </a:ln>
        </p:spPr>
      </p:cxnSp>
      <p:sp>
        <p:nvSpPr>
          <p:cNvPr id="121" name="Google Shape;121;p15"/>
          <p:cNvSpPr/>
          <p:nvPr/>
        </p:nvSpPr>
        <p:spPr>
          <a:xfrm>
            <a:off x="7658375" y="2787900"/>
            <a:ext cx="1288800" cy="253800"/>
          </a:xfrm>
          <a:prstGeom prst="ellipse">
            <a:avLst/>
          </a:prstGeom>
          <a:solidFill>
            <a:srgbClr val="F6B26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Fira Sans Extra Condensed"/>
                <a:ea typeface="Fira Sans Extra Condensed"/>
                <a:cs typeface="Fira Sans Extra Condensed"/>
                <a:sym typeface="Fira Sans Extra Condensed"/>
              </a:rPr>
              <a:t>Ontario Best</a:t>
            </a:r>
            <a:endParaRPr sz="1100">
              <a:solidFill>
                <a:schemeClr val="lt1"/>
              </a:solidFill>
              <a:latin typeface="Fira Sans Extra Condensed"/>
              <a:ea typeface="Fira Sans Extra Condensed"/>
              <a:cs typeface="Fira Sans Extra Condensed"/>
              <a:sym typeface="Fira Sans Extra Condense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pic>
        <p:nvPicPr>
          <p:cNvPr id="126" name="Google Shape;126;p16"/>
          <p:cNvPicPr preferRelativeResize="0"/>
          <p:nvPr/>
        </p:nvPicPr>
        <p:blipFill rotWithShape="1">
          <a:blip r:embed="rId3">
            <a:alphaModFix/>
          </a:blip>
          <a:srcRect b="6054" l="1451" r="4906" t="13643"/>
          <a:stretch/>
        </p:blipFill>
        <p:spPr>
          <a:xfrm>
            <a:off x="229650" y="1247463"/>
            <a:ext cx="8562525" cy="2447525"/>
          </a:xfrm>
          <a:prstGeom prst="rect">
            <a:avLst/>
          </a:prstGeom>
          <a:noFill/>
          <a:ln>
            <a:noFill/>
          </a:ln>
        </p:spPr>
      </p:pic>
      <p:sp>
        <p:nvSpPr>
          <p:cNvPr id="127" name="Google Shape;127;p16"/>
          <p:cNvSpPr/>
          <p:nvPr/>
        </p:nvSpPr>
        <p:spPr>
          <a:xfrm>
            <a:off x="341625" y="3784800"/>
            <a:ext cx="4260600" cy="1151100"/>
          </a:xfrm>
          <a:prstGeom prst="roundRect">
            <a:avLst>
              <a:gd fmla="val 50000" name="adj"/>
            </a:avLst>
          </a:prstGeom>
          <a:solidFill>
            <a:srgbClr val="E4EA27">
              <a:alpha val="25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6"/>
          <p:cNvSpPr txBox="1"/>
          <p:nvPr/>
        </p:nvSpPr>
        <p:spPr>
          <a:xfrm>
            <a:off x="301500" y="3911150"/>
            <a:ext cx="4300800" cy="933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a:latin typeface="Roboto"/>
                <a:ea typeface="Roboto"/>
                <a:cs typeface="Roboto"/>
                <a:sym typeface="Roboto"/>
              </a:rPr>
              <a:t>20% more average time taken for Pre-Fund decisions, for first time not right cases, than first time right cases.</a:t>
            </a:r>
            <a:endParaRPr sz="1000">
              <a:latin typeface="Roboto"/>
              <a:ea typeface="Roboto"/>
              <a:cs typeface="Roboto"/>
              <a:sym typeface="Roboto"/>
            </a:endParaRPr>
          </a:p>
        </p:txBody>
      </p:sp>
      <p:sp>
        <p:nvSpPr>
          <p:cNvPr id="129" name="Google Shape;129;p16"/>
          <p:cNvSpPr txBox="1"/>
          <p:nvPr>
            <p:ph type="title"/>
          </p:nvPr>
        </p:nvSpPr>
        <p:spPr>
          <a:xfrm>
            <a:off x="87300" y="200675"/>
            <a:ext cx="89694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800"/>
              <a:t>What is the impact on ‘Time to Pre-Fund Decision’ and ‘Case Time’ when a case is not first time right? </a:t>
            </a:r>
            <a:endParaRPr sz="1800"/>
          </a:p>
        </p:txBody>
      </p:sp>
      <p:pic>
        <p:nvPicPr>
          <p:cNvPr id="130" name="Google Shape;130;p16"/>
          <p:cNvPicPr preferRelativeResize="0"/>
          <p:nvPr/>
        </p:nvPicPr>
        <p:blipFill>
          <a:blip r:embed="rId4">
            <a:alphaModFix/>
          </a:blip>
          <a:stretch>
            <a:fillRect/>
          </a:stretch>
        </p:blipFill>
        <p:spPr>
          <a:xfrm>
            <a:off x="6280300" y="3439725"/>
            <a:ext cx="1396975" cy="164750"/>
          </a:xfrm>
          <a:prstGeom prst="rect">
            <a:avLst/>
          </a:prstGeom>
          <a:noFill/>
          <a:ln>
            <a:noFill/>
          </a:ln>
        </p:spPr>
      </p:pic>
      <p:sp>
        <p:nvSpPr>
          <p:cNvPr id="131" name="Google Shape;131;p16"/>
          <p:cNvSpPr/>
          <p:nvPr/>
        </p:nvSpPr>
        <p:spPr>
          <a:xfrm>
            <a:off x="4806225" y="3784800"/>
            <a:ext cx="4079100" cy="1059900"/>
          </a:xfrm>
          <a:prstGeom prst="roundRect">
            <a:avLst>
              <a:gd fmla="val 50000" name="adj"/>
            </a:avLst>
          </a:prstGeom>
          <a:solidFill>
            <a:srgbClr val="FCE5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6"/>
          <p:cNvSpPr txBox="1"/>
          <p:nvPr/>
        </p:nvSpPr>
        <p:spPr>
          <a:xfrm>
            <a:off x="5111875" y="3911150"/>
            <a:ext cx="3583500" cy="7788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
                <a:solidFill>
                  <a:schemeClr val="dk1"/>
                </a:solidFill>
                <a:latin typeface="Roboto"/>
                <a:ea typeface="Roboto"/>
                <a:cs typeface="Roboto"/>
                <a:sym typeface="Roboto"/>
              </a:rPr>
              <a:t>459% more </a:t>
            </a:r>
            <a:r>
              <a:rPr lang="en">
                <a:latin typeface="Roboto"/>
                <a:ea typeface="Roboto"/>
                <a:cs typeface="Roboto"/>
                <a:sym typeface="Roboto"/>
              </a:rPr>
              <a:t>a</a:t>
            </a:r>
            <a:r>
              <a:rPr lang="en">
                <a:latin typeface="Roboto"/>
                <a:ea typeface="Roboto"/>
                <a:cs typeface="Roboto"/>
                <a:sym typeface="Roboto"/>
              </a:rPr>
              <a:t>verage Case Time, for not first time right cases, than first time right cases.</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p:txBody>
      </p:sp>
      <p:sp>
        <p:nvSpPr>
          <p:cNvPr id="133" name="Google Shape;133;p16"/>
          <p:cNvSpPr txBox="1"/>
          <p:nvPr/>
        </p:nvSpPr>
        <p:spPr>
          <a:xfrm>
            <a:off x="3377725" y="867842"/>
            <a:ext cx="2498700" cy="289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600">
                <a:latin typeface="Fira Sans Extra Condensed"/>
                <a:ea typeface="Fira Sans Extra Condensed"/>
                <a:cs typeface="Fira Sans Extra Condensed"/>
                <a:sym typeface="Fira Sans Extra Condensed"/>
              </a:rPr>
              <a:t>Measuring impact by Average</a:t>
            </a:r>
            <a:endParaRPr b="1" sz="1600">
              <a:latin typeface="Fira Sans Extra Condensed"/>
              <a:ea typeface="Fira Sans Extra Condensed"/>
              <a:cs typeface="Fira Sans Extra Condensed"/>
              <a:sym typeface="Fira Sans Extra Condensed"/>
            </a:endParaRPr>
          </a:p>
        </p:txBody>
      </p:sp>
      <p:pic>
        <p:nvPicPr>
          <p:cNvPr id="134" name="Google Shape;134;p16"/>
          <p:cNvPicPr preferRelativeResize="0"/>
          <p:nvPr/>
        </p:nvPicPr>
        <p:blipFill rotWithShape="1">
          <a:blip r:embed="rId5">
            <a:alphaModFix/>
          </a:blip>
          <a:srcRect b="0" l="36533" r="36269" t="0"/>
          <a:stretch/>
        </p:blipFill>
        <p:spPr>
          <a:xfrm>
            <a:off x="7440024" y="1918325"/>
            <a:ext cx="237250" cy="872350"/>
          </a:xfrm>
          <a:prstGeom prst="rect">
            <a:avLst/>
          </a:prstGeom>
          <a:noFill/>
          <a:ln>
            <a:noFill/>
          </a:ln>
        </p:spPr>
      </p:pic>
      <p:sp>
        <p:nvSpPr>
          <p:cNvPr id="135" name="Google Shape;135;p16"/>
          <p:cNvSpPr txBox="1"/>
          <p:nvPr/>
        </p:nvSpPr>
        <p:spPr>
          <a:xfrm>
            <a:off x="7677275" y="2209600"/>
            <a:ext cx="531000" cy="28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4.5x</a:t>
            </a:r>
            <a:endParaRPr>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17"/>
          <p:cNvPicPr preferRelativeResize="0"/>
          <p:nvPr/>
        </p:nvPicPr>
        <p:blipFill rotWithShape="1">
          <a:blip r:embed="rId3">
            <a:alphaModFix/>
          </a:blip>
          <a:srcRect b="4973" l="1040" r="-1039" t="4430"/>
          <a:stretch/>
        </p:blipFill>
        <p:spPr>
          <a:xfrm>
            <a:off x="0" y="2762925"/>
            <a:ext cx="6649425" cy="2380700"/>
          </a:xfrm>
          <a:prstGeom prst="rect">
            <a:avLst/>
          </a:prstGeom>
          <a:noFill/>
          <a:ln>
            <a:noFill/>
          </a:ln>
        </p:spPr>
      </p:pic>
      <p:sp>
        <p:nvSpPr>
          <p:cNvPr id="141" name="Google Shape;141;p17"/>
          <p:cNvSpPr/>
          <p:nvPr/>
        </p:nvSpPr>
        <p:spPr>
          <a:xfrm>
            <a:off x="95375" y="1177975"/>
            <a:ext cx="3874800" cy="1155300"/>
          </a:xfrm>
          <a:prstGeom prst="roundRect">
            <a:avLst>
              <a:gd fmla="val 50000" name="adj"/>
            </a:avLst>
          </a:prstGeom>
          <a:solidFill>
            <a:srgbClr val="E4EA27">
              <a:alpha val="25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7"/>
          <p:cNvSpPr txBox="1"/>
          <p:nvPr/>
        </p:nvSpPr>
        <p:spPr>
          <a:xfrm>
            <a:off x="379600" y="1488300"/>
            <a:ext cx="3416400" cy="6105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300">
                <a:latin typeface="Roboto"/>
                <a:ea typeface="Roboto"/>
                <a:cs typeface="Roboto"/>
                <a:sym typeface="Roboto"/>
              </a:rPr>
              <a:t>Higher towards start and end of the month, lower in middle. Not much difference overall (~3% range)</a:t>
            </a:r>
            <a:endParaRPr sz="900">
              <a:latin typeface="Roboto"/>
              <a:ea typeface="Roboto"/>
              <a:cs typeface="Roboto"/>
              <a:sym typeface="Roboto"/>
            </a:endParaRPr>
          </a:p>
        </p:txBody>
      </p:sp>
      <p:sp>
        <p:nvSpPr>
          <p:cNvPr id="143" name="Google Shape;143;p17"/>
          <p:cNvSpPr txBox="1"/>
          <p:nvPr>
            <p:ph type="title"/>
          </p:nvPr>
        </p:nvSpPr>
        <p:spPr>
          <a:xfrm>
            <a:off x="0" y="316625"/>
            <a:ext cx="9144000" cy="431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800"/>
              <a:t>What is the average number of notifications associated with each case and are there any trends positive or negative?</a:t>
            </a:r>
            <a:r>
              <a:rPr b="0" lang="en" sz="1000">
                <a:latin typeface="Arial"/>
                <a:ea typeface="Arial"/>
                <a:cs typeface="Arial"/>
                <a:sym typeface="Arial"/>
              </a:rPr>
              <a:t> </a:t>
            </a:r>
            <a:endParaRPr b="0" sz="1000">
              <a:latin typeface="Arial"/>
              <a:ea typeface="Arial"/>
              <a:cs typeface="Arial"/>
              <a:sym typeface="Arial"/>
            </a:endParaRPr>
          </a:p>
          <a:p>
            <a:pPr indent="0" lvl="0" marL="0" rtl="0" algn="ctr">
              <a:spcBef>
                <a:spcPts val="0"/>
              </a:spcBef>
              <a:spcAft>
                <a:spcPts val="0"/>
              </a:spcAft>
              <a:buNone/>
            </a:pPr>
            <a:r>
              <a:rPr lang="en" sz="1800"/>
              <a:t> </a:t>
            </a:r>
            <a:endParaRPr sz="1800"/>
          </a:p>
        </p:txBody>
      </p:sp>
      <p:sp>
        <p:nvSpPr>
          <p:cNvPr id="144" name="Google Shape;144;p17"/>
          <p:cNvSpPr/>
          <p:nvPr/>
        </p:nvSpPr>
        <p:spPr>
          <a:xfrm>
            <a:off x="5252400" y="3826450"/>
            <a:ext cx="3891600" cy="959700"/>
          </a:xfrm>
          <a:prstGeom prst="roundRect">
            <a:avLst>
              <a:gd fmla="val 50000" name="adj"/>
            </a:avLst>
          </a:prstGeom>
          <a:solidFill>
            <a:srgbClr val="FCE5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7"/>
          <p:cNvSpPr txBox="1"/>
          <p:nvPr/>
        </p:nvSpPr>
        <p:spPr>
          <a:xfrm>
            <a:off x="5439900" y="4007350"/>
            <a:ext cx="3704100" cy="778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chemeClr val="dk1"/>
                </a:solidFill>
                <a:latin typeface="Roboto"/>
                <a:ea typeface="Roboto"/>
                <a:cs typeface="Roboto"/>
                <a:sym typeface="Roboto"/>
              </a:rPr>
              <a:t>Rising trend from the month of May for both Years  2017 and 2018. </a:t>
            </a:r>
            <a:endParaRPr sz="12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b="1" lang="en" sz="1200">
                <a:solidFill>
                  <a:srgbClr val="D53F21"/>
                </a:solidFill>
                <a:latin typeface="Roboto"/>
                <a:ea typeface="Roboto"/>
                <a:cs typeface="Roboto"/>
                <a:sym typeface="Roboto"/>
              </a:rPr>
              <a:t>Year - 2018</a:t>
            </a:r>
            <a:r>
              <a:rPr lang="en" sz="1200">
                <a:solidFill>
                  <a:schemeClr val="dk1"/>
                </a:solidFill>
                <a:latin typeface="Roboto"/>
                <a:ea typeface="Roboto"/>
                <a:cs typeface="Roboto"/>
                <a:sym typeface="Roboto"/>
              </a:rPr>
              <a:t> shows more average than </a:t>
            </a:r>
            <a:r>
              <a:rPr b="1" lang="en" sz="1200">
                <a:solidFill>
                  <a:srgbClr val="4A86E8"/>
                </a:solidFill>
                <a:latin typeface="Roboto"/>
                <a:ea typeface="Roboto"/>
                <a:cs typeface="Roboto"/>
                <a:sym typeface="Roboto"/>
              </a:rPr>
              <a:t>Year - 2017.</a:t>
            </a:r>
            <a:endParaRPr b="1" sz="1200">
              <a:solidFill>
                <a:srgbClr val="4A86E8"/>
              </a:solidFill>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p:txBody>
      </p:sp>
      <p:sp>
        <p:nvSpPr>
          <p:cNvPr id="146" name="Google Shape;146;p17"/>
          <p:cNvSpPr txBox="1"/>
          <p:nvPr/>
        </p:nvSpPr>
        <p:spPr>
          <a:xfrm>
            <a:off x="6698850" y="3826450"/>
            <a:ext cx="998700" cy="331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latin typeface="Fira Sans Extra Condensed"/>
                <a:ea typeface="Fira Sans Extra Condensed"/>
                <a:cs typeface="Fira Sans Extra Condensed"/>
                <a:sym typeface="Fira Sans Extra Condensed"/>
              </a:rPr>
              <a:t>Monthly</a:t>
            </a:r>
            <a:endParaRPr b="1" sz="1800">
              <a:solidFill>
                <a:srgbClr val="000000"/>
              </a:solidFill>
              <a:latin typeface="Fira Sans Extra Condensed"/>
              <a:ea typeface="Fira Sans Extra Condensed"/>
              <a:cs typeface="Fira Sans Extra Condensed"/>
              <a:sym typeface="Fira Sans Extra Condensed"/>
            </a:endParaRPr>
          </a:p>
        </p:txBody>
      </p:sp>
      <p:sp>
        <p:nvSpPr>
          <p:cNvPr id="147" name="Google Shape;147;p17"/>
          <p:cNvSpPr txBox="1"/>
          <p:nvPr/>
        </p:nvSpPr>
        <p:spPr>
          <a:xfrm>
            <a:off x="1167275" y="1177975"/>
            <a:ext cx="2078100" cy="331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latin typeface="Fira Sans Extra Condensed"/>
                <a:ea typeface="Fira Sans Extra Condensed"/>
                <a:cs typeface="Fira Sans Extra Condensed"/>
                <a:sym typeface="Fira Sans Extra Condensed"/>
              </a:rPr>
              <a:t>Days of month (1-31)</a:t>
            </a:r>
            <a:endParaRPr b="1" sz="1800">
              <a:solidFill>
                <a:srgbClr val="000000"/>
              </a:solidFill>
              <a:latin typeface="Fira Sans Extra Condensed"/>
              <a:ea typeface="Fira Sans Extra Condensed"/>
              <a:cs typeface="Fira Sans Extra Condensed"/>
              <a:sym typeface="Fira Sans Extra Condensed"/>
            </a:endParaRPr>
          </a:p>
        </p:txBody>
      </p:sp>
      <p:sp>
        <p:nvSpPr>
          <p:cNvPr id="148" name="Google Shape;148;p17"/>
          <p:cNvSpPr txBox="1"/>
          <p:nvPr/>
        </p:nvSpPr>
        <p:spPr>
          <a:xfrm>
            <a:off x="3055725" y="2799500"/>
            <a:ext cx="5029500" cy="33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300">
                <a:latin typeface="Roboto"/>
                <a:ea typeface="Roboto"/>
                <a:cs typeface="Roboto"/>
                <a:sym typeface="Roboto"/>
              </a:rPr>
              <a:t>Average # Notification/Case is in the range of 1.6 and 1.2</a:t>
            </a:r>
            <a:endParaRPr i="1" sz="1300">
              <a:latin typeface="Roboto"/>
              <a:ea typeface="Roboto"/>
              <a:cs typeface="Roboto"/>
              <a:sym typeface="Roboto"/>
            </a:endParaRPr>
          </a:p>
        </p:txBody>
      </p:sp>
      <p:pic>
        <p:nvPicPr>
          <p:cNvPr id="149" name="Google Shape;149;p17"/>
          <p:cNvPicPr preferRelativeResize="0"/>
          <p:nvPr/>
        </p:nvPicPr>
        <p:blipFill rotWithShape="1">
          <a:blip r:embed="rId4">
            <a:alphaModFix/>
          </a:blip>
          <a:srcRect b="4442" l="0" r="17715" t="4341"/>
          <a:stretch/>
        </p:blipFill>
        <p:spPr>
          <a:xfrm>
            <a:off x="3970175" y="905050"/>
            <a:ext cx="5111674" cy="18944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8"/>
          <p:cNvSpPr/>
          <p:nvPr/>
        </p:nvSpPr>
        <p:spPr>
          <a:xfrm>
            <a:off x="196063" y="1276500"/>
            <a:ext cx="3585300" cy="3671700"/>
          </a:xfrm>
          <a:prstGeom prst="roundRect">
            <a:avLst>
              <a:gd fmla="val 16667" name="adj"/>
            </a:avLst>
          </a:prstGeom>
          <a:solidFill>
            <a:srgbClr val="E4EA27">
              <a:alpha val="25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8"/>
          <p:cNvSpPr txBox="1"/>
          <p:nvPr>
            <p:ph type="title"/>
          </p:nvPr>
        </p:nvSpPr>
        <p:spPr>
          <a:xfrm>
            <a:off x="56700" y="161325"/>
            <a:ext cx="9087300" cy="5313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sz="1800"/>
              <a:t>When a case is not first time right, what is the percent of total case time spent with the branch making revisions vs. Pre-Fund working the notifications. </a:t>
            </a:r>
            <a:endParaRPr sz="1800"/>
          </a:p>
          <a:p>
            <a:pPr indent="0" lvl="0" marL="0" rtl="0" algn="ctr">
              <a:spcBef>
                <a:spcPts val="0"/>
              </a:spcBef>
              <a:spcAft>
                <a:spcPts val="0"/>
              </a:spcAft>
              <a:buNone/>
            </a:pPr>
            <a:r>
              <a:t/>
            </a:r>
            <a:endParaRPr sz="1800"/>
          </a:p>
        </p:txBody>
      </p:sp>
      <p:sp>
        <p:nvSpPr>
          <p:cNvPr id="156" name="Google Shape;156;p18"/>
          <p:cNvSpPr/>
          <p:nvPr/>
        </p:nvSpPr>
        <p:spPr>
          <a:xfrm>
            <a:off x="550975" y="3606150"/>
            <a:ext cx="2875500" cy="1034400"/>
          </a:xfrm>
          <a:prstGeom prst="roundRect">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t/>
            </a:r>
            <a:endParaRPr b="1" sz="1000">
              <a:solidFill>
                <a:schemeClr val="lt1"/>
              </a:solidFill>
            </a:endParaRPr>
          </a:p>
          <a:p>
            <a:pPr indent="0" lvl="0" marL="0" rtl="0" algn="ctr">
              <a:lnSpc>
                <a:spcPct val="115000"/>
              </a:lnSpc>
              <a:spcBef>
                <a:spcPts val="0"/>
              </a:spcBef>
              <a:spcAft>
                <a:spcPts val="0"/>
              </a:spcAft>
              <a:buClr>
                <a:schemeClr val="dk1"/>
              </a:buClr>
              <a:buSzPts val="1100"/>
              <a:buFont typeface="Arial"/>
              <a:buNone/>
            </a:pPr>
            <a:r>
              <a:rPr b="1" lang="en" sz="1000">
                <a:solidFill>
                  <a:schemeClr val="lt1"/>
                </a:solidFill>
              </a:rPr>
              <a:t>Time spent by Pre-Fund team working the notifications is maximum shown by the PRAIRIE region by 51% followed by BC &amp; YUKON i.e. 50.57%.</a:t>
            </a:r>
            <a:endParaRPr b="1" sz="1000">
              <a:solidFill>
                <a:schemeClr val="lt1"/>
              </a:solidFill>
            </a:endParaRPr>
          </a:p>
          <a:p>
            <a:pPr indent="0" lvl="0" marL="0" rtl="0" algn="ctr">
              <a:spcBef>
                <a:spcPts val="0"/>
              </a:spcBef>
              <a:spcAft>
                <a:spcPts val="0"/>
              </a:spcAft>
              <a:buNone/>
            </a:pPr>
            <a:r>
              <a:t/>
            </a:r>
            <a:endParaRPr b="1" sz="1000">
              <a:solidFill>
                <a:schemeClr val="lt1"/>
              </a:solidFill>
            </a:endParaRPr>
          </a:p>
        </p:txBody>
      </p:sp>
      <p:pic>
        <p:nvPicPr>
          <p:cNvPr id="157" name="Google Shape;157;p18"/>
          <p:cNvPicPr preferRelativeResize="0"/>
          <p:nvPr/>
        </p:nvPicPr>
        <p:blipFill rotWithShape="1">
          <a:blip r:embed="rId3">
            <a:alphaModFix/>
          </a:blip>
          <a:srcRect b="63535" l="62330" r="0" t="18635"/>
          <a:stretch/>
        </p:blipFill>
        <p:spPr>
          <a:xfrm>
            <a:off x="56700" y="692625"/>
            <a:ext cx="4111924" cy="583864"/>
          </a:xfrm>
          <a:prstGeom prst="rect">
            <a:avLst/>
          </a:prstGeom>
          <a:noFill/>
          <a:ln>
            <a:noFill/>
          </a:ln>
        </p:spPr>
      </p:pic>
      <p:sp>
        <p:nvSpPr>
          <p:cNvPr id="158" name="Google Shape;158;p18"/>
          <p:cNvSpPr/>
          <p:nvPr/>
        </p:nvSpPr>
        <p:spPr>
          <a:xfrm>
            <a:off x="550975" y="1613825"/>
            <a:ext cx="2875500" cy="987000"/>
          </a:xfrm>
          <a:prstGeom prst="roundRect">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t/>
            </a:r>
            <a:endParaRPr b="1" sz="1000">
              <a:solidFill>
                <a:schemeClr val="lt1"/>
              </a:solidFill>
            </a:endParaRPr>
          </a:p>
          <a:p>
            <a:pPr indent="0" lvl="0" marL="0" rtl="0" algn="ctr">
              <a:lnSpc>
                <a:spcPct val="115000"/>
              </a:lnSpc>
              <a:spcBef>
                <a:spcPts val="0"/>
              </a:spcBef>
              <a:spcAft>
                <a:spcPts val="0"/>
              </a:spcAft>
              <a:buNone/>
            </a:pPr>
            <a:r>
              <a:rPr b="1" lang="en" sz="1000">
                <a:solidFill>
                  <a:schemeClr val="lt1"/>
                </a:solidFill>
              </a:rPr>
              <a:t>ATLANTIC region spends about 59% of time for Branch making revisions followed by ONTARIO which takes 55.8% time.</a:t>
            </a:r>
            <a:endParaRPr b="1" sz="1000">
              <a:solidFill>
                <a:schemeClr val="lt1"/>
              </a:solidFill>
            </a:endParaRPr>
          </a:p>
          <a:p>
            <a:pPr indent="0" lvl="0" marL="0" rtl="0" algn="ctr">
              <a:spcBef>
                <a:spcPts val="0"/>
              </a:spcBef>
              <a:spcAft>
                <a:spcPts val="0"/>
              </a:spcAft>
              <a:buNone/>
            </a:pPr>
            <a:r>
              <a:t/>
            </a:r>
            <a:endParaRPr/>
          </a:p>
        </p:txBody>
      </p:sp>
      <p:sp>
        <p:nvSpPr>
          <p:cNvPr id="159" name="Google Shape;159;p18"/>
          <p:cNvSpPr txBox="1"/>
          <p:nvPr/>
        </p:nvSpPr>
        <p:spPr>
          <a:xfrm>
            <a:off x="275200" y="2723600"/>
            <a:ext cx="3506400" cy="3510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i="1" lang="en" sz="1000">
                <a:solidFill>
                  <a:schemeClr val="dk1"/>
                </a:solidFill>
              </a:rPr>
              <a:t>Both the Branch Revisions team and the Pre-Fund team are almost equally responsible for the delay in applications.</a:t>
            </a:r>
            <a:endParaRPr i="1" sz="1000">
              <a:solidFill>
                <a:schemeClr val="dk1"/>
              </a:solidFill>
            </a:endParaRPr>
          </a:p>
          <a:p>
            <a:pPr indent="0" lvl="0" marL="0" rtl="0" algn="just">
              <a:spcBef>
                <a:spcPts val="0"/>
              </a:spcBef>
              <a:spcAft>
                <a:spcPts val="0"/>
              </a:spcAft>
              <a:buNone/>
            </a:pPr>
            <a:r>
              <a:t/>
            </a:r>
            <a:endParaRPr i="1">
              <a:latin typeface="Roboto"/>
              <a:ea typeface="Roboto"/>
              <a:cs typeface="Roboto"/>
              <a:sym typeface="Roboto"/>
            </a:endParaRPr>
          </a:p>
        </p:txBody>
      </p:sp>
      <p:pic>
        <p:nvPicPr>
          <p:cNvPr id="160" name="Google Shape;160;p18"/>
          <p:cNvPicPr preferRelativeResize="0"/>
          <p:nvPr/>
        </p:nvPicPr>
        <p:blipFill rotWithShape="1">
          <a:blip r:embed="rId4">
            <a:alphaModFix/>
          </a:blip>
          <a:srcRect b="6738" l="1242" r="37837" t="3655"/>
          <a:stretch/>
        </p:blipFill>
        <p:spPr>
          <a:xfrm>
            <a:off x="4234313" y="756050"/>
            <a:ext cx="4866461" cy="2147200"/>
          </a:xfrm>
          <a:prstGeom prst="rect">
            <a:avLst/>
          </a:prstGeom>
          <a:noFill/>
          <a:ln>
            <a:noFill/>
          </a:ln>
        </p:spPr>
      </p:pic>
      <p:pic>
        <p:nvPicPr>
          <p:cNvPr id="161" name="Google Shape;161;p18"/>
          <p:cNvPicPr preferRelativeResize="0"/>
          <p:nvPr/>
        </p:nvPicPr>
        <p:blipFill rotWithShape="1">
          <a:blip r:embed="rId5">
            <a:alphaModFix/>
          </a:blip>
          <a:srcRect b="6774" l="1344" r="38356" t="3971"/>
          <a:stretch/>
        </p:blipFill>
        <p:spPr>
          <a:xfrm>
            <a:off x="4209263" y="2903244"/>
            <a:ext cx="4916576" cy="218328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9"/>
          <p:cNvSpPr txBox="1"/>
          <p:nvPr>
            <p:ph type="title"/>
          </p:nvPr>
        </p:nvSpPr>
        <p:spPr>
          <a:xfrm>
            <a:off x="457200" y="411475"/>
            <a:ext cx="82296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1820"/>
              <a:t>Build a predictive model using Jupyter* and Scikit-learn* to predict FTR – First Time Right. Explain how to use the model to drive improved Operations or Business Process</a:t>
            </a:r>
            <a:endParaRPr sz="1820"/>
          </a:p>
        </p:txBody>
      </p:sp>
      <p:sp>
        <p:nvSpPr>
          <p:cNvPr id="167" name="Google Shape;167;p19"/>
          <p:cNvSpPr txBox="1"/>
          <p:nvPr>
            <p:ph idx="1" type="body"/>
          </p:nvPr>
        </p:nvSpPr>
        <p:spPr>
          <a:xfrm>
            <a:off x="2581550" y="4538500"/>
            <a:ext cx="1536900" cy="550500"/>
          </a:xfrm>
          <a:prstGeom prst="rect">
            <a:avLst/>
          </a:prstGeom>
        </p:spPr>
        <p:txBody>
          <a:bodyPr anchorCtr="0" anchor="t" bIns="91425" lIns="91425" spcFirstLastPara="1" rIns="91425" wrap="square" tIns="91425">
            <a:noAutofit/>
          </a:bodyPr>
          <a:lstStyle/>
          <a:p>
            <a:pPr indent="0" lvl="0" marL="0" rtl="0" algn="l">
              <a:lnSpc>
                <a:spcPct val="80000"/>
              </a:lnSpc>
              <a:spcBef>
                <a:spcPts val="0"/>
              </a:spcBef>
              <a:spcAft>
                <a:spcPts val="1200"/>
              </a:spcAft>
              <a:buSzPts val="523"/>
              <a:buNone/>
            </a:pPr>
            <a:r>
              <a:rPr b="1" lang="en" sz="1365"/>
              <a:t>and so on</a:t>
            </a:r>
            <a:r>
              <a:rPr b="1" lang="en" sz="1165"/>
              <a:t>  </a:t>
            </a:r>
            <a:r>
              <a:rPr b="1" lang="en" sz="4265"/>
              <a:t>.</a:t>
            </a:r>
            <a:r>
              <a:rPr b="1" lang="en" sz="3765"/>
              <a:t>.</a:t>
            </a:r>
            <a:r>
              <a:rPr b="1" lang="en" sz="3365"/>
              <a:t>.</a:t>
            </a:r>
            <a:endParaRPr b="1" sz="3365"/>
          </a:p>
        </p:txBody>
      </p:sp>
      <p:sp>
        <p:nvSpPr>
          <p:cNvPr id="168" name="Google Shape;168;p19"/>
          <p:cNvSpPr/>
          <p:nvPr/>
        </p:nvSpPr>
        <p:spPr>
          <a:xfrm>
            <a:off x="967225" y="1053700"/>
            <a:ext cx="7043400" cy="371400"/>
          </a:xfrm>
          <a:prstGeom prst="roundRect">
            <a:avLst>
              <a:gd fmla="val 50000" name="adj"/>
            </a:avLst>
          </a:prstGeom>
          <a:solidFill>
            <a:srgbClr val="E4EA27">
              <a:alpha val="25099"/>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The model considered is </a:t>
            </a:r>
            <a:r>
              <a:rPr b="1" lang="en" sz="1820">
                <a:solidFill>
                  <a:schemeClr val="dk1"/>
                </a:solidFill>
                <a:latin typeface="Fira Sans Extra Condensed"/>
                <a:ea typeface="Fira Sans Extra Condensed"/>
                <a:cs typeface="Fira Sans Extra Condensed"/>
                <a:sym typeface="Fira Sans Extra Condensed"/>
              </a:rPr>
              <a:t>Decision Tree</a:t>
            </a:r>
            <a:r>
              <a:rPr lang="en"/>
              <a:t> which gives ~70 % accurate results. </a:t>
            </a:r>
            <a:endParaRPr i="1" sz="1300"/>
          </a:p>
        </p:txBody>
      </p:sp>
      <p:sp>
        <p:nvSpPr>
          <p:cNvPr id="169" name="Google Shape;169;p19"/>
          <p:cNvSpPr/>
          <p:nvPr/>
        </p:nvSpPr>
        <p:spPr>
          <a:xfrm>
            <a:off x="76075" y="2327950"/>
            <a:ext cx="2045100" cy="1689600"/>
          </a:xfrm>
          <a:prstGeom prst="roundRect">
            <a:avLst>
              <a:gd fmla="val 17073" name="adj"/>
            </a:avLst>
          </a:prstGeom>
          <a:solidFill>
            <a:srgbClr val="EA4827">
              <a:alpha val="1254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sz="1200"/>
              <a:t>Features Used to build the model :</a:t>
            </a:r>
            <a:endParaRPr sz="1200"/>
          </a:p>
          <a:p>
            <a:pPr indent="-304800" lvl="0" marL="457200" rtl="0" algn="l">
              <a:spcBef>
                <a:spcPts val="0"/>
              </a:spcBef>
              <a:spcAft>
                <a:spcPts val="0"/>
              </a:spcAft>
              <a:buSzPts val="1200"/>
              <a:buChar char="●"/>
            </a:pPr>
            <a:r>
              <a:rPr lang="en" sz="1200"/>
              <a:t>Age of Property</a:t>
            </a:r>
            <a:endParaRPr sz="1200"/>
          </a:p>
          <a:p>
            <a:pPr indent="-304800" lvl="0" marL="457200" rtl="0" algn="l">
              <a:spcBef>
                <a:spcPts val="0"/>
              </a:spcBef>
              <a:spcAft>
                <a:spcPts val="0"/>
              </a:spcAft>
              <a:buSzPts val="1200"/>
              <a:buChar char="●"/>
            </a:pPr>
            <a:r>
              <a:rPr lang="en" sz="1200">
                <a:solidFill>
                  <a:schemeClr val="dk1"/>
                </a:solidFill>
              </a:rPr>
              <a:t>Application Method </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Job Category</a:t>
            </a:r>
            <a:endParaRPr sz="1200">
              <a:solidFill>
                <a:schemeClr val="dk1"/>
              </a:solidFill>
            </a:endParaRPr>
          </a:p>
          <a:p>
            <a:pPr indent="-304800" lvl="0" marL="457200" rtl="0" algn="l">
              <a:spcBef>
                <a:spcPts val="0"/>
              </a:spcBef>
              <a:spcAft>
                <a:spcPts val="0"/>
              </a:spcAft>
              <a:buSzPts val="1200"/>
              <a:buChar char="●"/>
            </a:pPr>
            <a:r>
              <a:rPr lang="en" sz="1200"/>
              <a:t>Tenure (Years)</a:t>
            </a:r>
            <a:endParaRPr sz="1200"/>
          </a:p>
          <a:p>
            <a:pPr indent="-304800" lvl="0" marL="457200" rtl="0" algn="l">
              <a:spcBef>
                <a:spcPts val="0"/>
              </a:spcBef>
              <a:spcAft>
                <a:spcPts val="0"/>
              </a:spcAft>
              <a:buSzPts val="1200"/>
              <a:buChar char="●"/>
            </a:pPr>
            <a:r>
              <a:rPr lang="en" sz="1200"/>
              <a:t>Region</a:t>
            </a:r>
            <a:endParaRPr sz="1200"/>
          </a:p>
          <a:p>
            <a:pPr indent="-304800" lvl="0" marL="457200" rtl="0" algn="l">
              <a:spcBef>
                <a:spcPts val="0"/>
              </a:spcBef>
              <a:spcAft>
                <a:spcPts val="0"/>
              </a:spcAft>
              <a:buSzPts val="1200"/>
              <a:buChar char="●"/>
            </a:pPr>
            <a:r>
              <a:rPr lang="en" sz="1200"/>
              <a:t>Application Month</a:t>
            </a:r>
            <a:endParaRPr sz="1200"/>
          </a:p>
          <a:p>
            <a:pPr indent="0" lvl="0" marL="457200" rtl="0" algn="l">
              <a:spcBef>
                <a:spcPts val="0"/>
              </a:spcBef>
              <a:spcAft>
                <a:spcPts val="0"/>
              </a:spcAft>
              <a:buNone/>
            </a:pPr>
            <a:r>
              <a:t/>
            </a:r>
            <a:endParaRPr/>
          </a:p>
        </p:txBody>
      </p:sp>
      <p:sp>
        <p:nvSpPr>
          <p:cNvPr id="170" name="Google Shape;170;p19"/>
          <p:cNvSpPr/>
          <p:nvPr/>
        </p:nvSpPr>
        <p:spPr>
          <a:xfrm>
            <a:off x="3153100" y="2794825"/>
            <a:ext cx="237300" cy="265800"/>
          </a:xfrm>
          <a:prstGeom prst="downArrow">
            <a:avLst>
              <a:gd fmla="val 50000" name="adj1"/>
              <a:gd fmla="val 50000" name="adj2"/>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9"/>
          <p:cNvSpPr/>
          <p:nvPr/>
        </p:nvSpPr>
        <p:spPr>
          <a:xfrm>
            <a:off x="2552200" y="4110925"/>
            <a:ext cx="1439100" cy="695100"/>
          </a:xfrm>
          <a:prstGeom prst="roundRect">
            <a:avLst>
              <a:gd fmla="val 15217" name="adj"/>
            </a:avLst>
          </a:prstGeom>
          <a:solidFill>
            <a:srgbClr val="2776EA">
              <a:alpha val="12549"/>
            </a:srgbClr>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chemeClr val="dk1"/>
                </a:solidFill>
              </a:rPr>
              <a:t>Job Category of the applicant</a:t>
            </a:r>
            <a:endParaRPr/>
          </a:p>
        </p:txBody>
      </p:sp>
      <p:sp>
        <p:nvSpPr>
          <p:cNvPr id="172" name="Google Shape;172;p19"/>
          <p:cNvSpPr/>
          <p:nvPr/>
        </p:nvSpPr>
        <p:spPr>
          <a:xfrm>
            <a:off x="3153100" y="3845113"/>
            <a:ext cx="237300" cy="265800"/>
          </a:xfrm>
          <a:prstGeom prst="downArrow">
            <a:avLst>
              <a:gd fmla="val 50000" name="adj1"/>
              <a:gd fmla="val 50000" name="adj2"/>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3" name="Google Shape;173;p19"/>
          <p:cNvPicPr preferRelativeResize="0"/>
          <p:nvPr/>
        </p:nvPicPr>
        <p:blipFill rotWithShape="1">
          <a:blip r:embed="rId3">
            <a:alphaModFix/>
          </a:blip>
          <a:srcRect b="27947" l="14842" r="15407" t="21750"/>
          <a:stretch/>
        </p:blipFill>
        <p:spPr>
          <a:xfrm>
            <a:off x="408800" y="4017538"/>
            <a:ext cx="1379625" cy="1071450"/>
          </a:xfrm>
          <a:prstGeom prst="rect">
            <a:avLst/>
          </a:prstGeom>
          <a:noFill/>
          <a:ln>
            <a:noFill/>
          </a:ln>
        </p:spPr>
      </p:pic>
      <p:sp>
        <p:nvSpPr>
          <p:cNvPr id="174" name="Google Shape;174;p19"/>
          <p:cNvSpPr/>
          <p:nvPr/>
        </p:nvSpPr>
        <p:spPr>
          <a:xfrm>
            <a:off x="2249200" y="3036088"/>
            <a:ext cx="2045100" cy="753600"/>
          </a:xfrm>
          <a:prstGeom prst="roundRect">
            <a:avLst>
              <a:gd fmla="val 15217" name="adj"/>
            </a:avLst>
          </a:prstGeom>
          <a:solidFill>
            <a:srgbClr val="2776EA">
              <a:alpha val="1254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a:p>
            <a:pPr indent="0" lvl="0" marL="0" rtl="0" algn="ctr">
              <a:spcBef>
                <a:spcPts val="0"/>
              </a:spcBef>
              <a:spcAft>
                <a:spcPts val="0"/>
              </a:spcAft>
              <a:buNone/>
            </a:pPr>
            <a:r>
              <a:rPr lang="en">
                <a:solidFill>
                  <a:schemeClr val="dk1"/>
                </a:solidFill>
              </a:rPr>
              <a:t>Application method (applied through branch/app)</a:t>
            </a:r>
            <a:endParaRPr>
              <a:solidFill>
                <a:schemeClr val="dk1"/>
              </a:solidFill>
            </a:endParaRPr>
          </a:p>
          <a:p>
            <a:pPr indent="0" lvl="0" marL="0" rtl="0" algn="l">
              <a:spcBef>
                <a:spcPts val="0"/>
              </a:spcBef>
              <a:spcAft>
                <a:spcPts val="0"/>
              </a:spcAft>
              <a:buNone/>
            </a:pPr>
            <a:r>
              <a:t/>
            </a:r>
            <a:endParaRPr>
              <a:solidFill>
                <a:schemeClr val="dk1"/>
              </a:solidFill>
            </a:endParaRPr>
          </a:p>
        </p:txBody>
      </p:sp>
      <p:sp>
        <p:nvSpPr>
          <p:cNvPr id="175" name="Google Shape;175;p19"/>
          <p:cNvSpPr/>
          <p:nvPr/>
        </p:nvSpPr>
        <p:spPr>
          <a:xfrm>
            <a:off x="2581900" y="2284563"/>
            <a:ext cx="1379700" cy="477300"/>
          </a:xfrm>
          <a:prstGeom prst="roundRect">
            <a:avLst>
              <a:gd fmla="val 15217" name="adj"/>
            </a:avLst>
          </a:prstGeom>
          <a:solidFill>
            <a:srgbClr val="2776EA">
              <a:alpha val="1254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a:p>
            <a:pPr indent="0" lvl="0" marL="0" rtl="0" algn="ctr">
              <a:spcBef>
                <a:spcPts val="0"/>
              </a:spcBef>
              <a:spcAft>
                <a:spcPts val="0"/>
              </a:spcAft>
              <a:buNone/>
            </a:pPr>
            <a:r>
              <a:rPr lang="en">
                <a:solidFill>
                  <a:schemeClr val="dk1"/>
                </a:solidFill>
              </a:rPr>
              <a:t>Age of the property</a:t>
            </a:r>
            <a:endParaRPr>
              <a:solidFill>
                <a:schemeClr val="dk1"/>
              </a:solidFill>
            </a:endParaRPr>
          </a:p>
          <a:p>
            <a:pPr indent="0" lvl="0" marL="0" rtl="0" algn="l">
              <a:spcBef>
                <a:spcPts val="0"/>
              </a:spcBef>
              <a:spcAft>
                <a:spcPts val="0"/>
              </a:spcAft>
              <a:buNone/>
            </a:pPr>
            <a:r>
              <a:t/>
            </a:r>
            <a:endParaRPr>
              <a:solidFill>
                <a:schemeClr val="dk1"/>
              </a:solidFill>
            </a:endParaRPr>
          </a:p>
        </p:txBody>
      </p:sp>
      <p:sp>
        <p:nvSpPr>
          <p:cNvPr id="176" name="Google Shape;176;p19"/>
          <p:cNvSpPr/>
          <p:nvPr/>
        </p:nvSpPr>
        <p:spPr>
          <a:xfrm>
            <a:off x="4881975" y="2177250"/>
            <a:ext cx="4189200" cy="621000"/>
          </a:xfrm>
          <a:prstGeom prst="roundRect">
            <a:avLst>
              <a:gd fmla="val 50000" name="adj"/>
            </a:avLst>
          </a:prstGeom>
          <a:solidFill>
            <a:srgbClr val="FCE5C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t>Since age of property shows as first important feature to FTR, a separate queue/team can handle older property cases to reduce overall delays.</a:t>
            </a:r>
            <a:endParaRPr sz="1300"/>
          </a:p>
        </p:txBody>
      </p:sp>
      <p:sp>
        <p:nvSpPr>
          <p:cNvPr id="177" name="Google Shape;177;p19"/>
          <p:cNvSpPr/>
          <p:nvPr/>
        </p:nvSpPr>
        <p:spPr>
          <a:xfrm>
            <a:off x="5211300" y="3141825"/>
            <a:ext cx="3859800" cy="753600"/>
          </a:xfrm>
          <a:prstGeom prst="roundRect">
            <a:avLst>
              <a:gd fmla="val 50000" name="adj"/>
            </a:avLst>
          </a:prstGeom>
          <a:solidFill>
            <a:srgbClr val="FCE5C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t>Separate departments can handle the applications coming from Branch and App (web-app) to improve the operations.</a:t>
            </a:r>
            <a:endParaRPr sz="1300"/>
          </a:p>
        </p:txBody>
      </p:sp>
      <p:sp>
        <p:nvSpPr>
          <p:cNvPr id="178" name="Google Shape;178;p19"/>
          <p:cNvSpPr/>
          <p:nvPr/>
        </p:nvSpPr>
        <p:spPr>
          <a:xfrm>
            <a:off x="4660675" y="4253175"/>
            <a:ext cx="4469400" cy="844500"/>
          </a:xfrm>
          <a:prstGeom prst="roundRect">
            <a:avLst>
              <a:gd fmla="val 50000" name="adj"/>
            </a:avLst>
          </a:prstGeom>
          <a:solidFill>
            <a:srgbClr val="FCE5C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t>Training of existing staff, sharing of best practices from Top performing Regions and additional staff can be considered to improve FTR cases in poor performing Regions and Districts.</a:t>
            </a:r>
            <a:endParaRPr sz="1300"/>
          </a:p>
        </p:txBody>
      </p:sp>
      <p:sp>
        <p:nvSpPr>
          <p:cNvPr id="179" name="Google Shape;179;p19"/>
          <p:cNvSpPr/>
          <p:nvPr/>
        </p:nvSpPr>
        <p:spPr>
          <a:xfrm>
            <a:off x="7715275" y="1805850"/>
            <a:ext cx="1038000" cy="37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Fira Sans Extra Condensed"/>
                <a:ea typeface="Fira Sans Extra Condensed"/>
                <a:cs typeface="Fira Sans Extra Condensed"/>
                <a:sym typeface="Fira Sans Extra Condensed"/>
              </a:rPr>
              <a:t>Insights</a:t>
            </a:r>
            <a:endParaRPr b="1" sz="1800">
              <a:solidFill>
                <a:schemeClr val="lt1"/>
              </a:solidFill>
              <a:latin typeface="Fira Sans Extra Condensed"/>
              <a:ea typeface="Fira Sans Extra Condensed"/>
              <a:cs typeface="Fira Sans Extra Condensed"/>
              <a:sym typeface="Fira Sans Extra Condensed"/>
            </a:endParaRPr>
          </a:p>
        </p:txBody>
      </p:sp>
      <p:sp>
        <p:nvSpPr>
          <p:cNvPr id="180" name="Google Shape;180;p19"/>
          <p:cNvSpPr/>
          <p:nvPr/>
        </p:nvSpPr>
        <p:spPr>
          <a:xfrm>
            <a:off x="6929850" y="2827413"/>
            <a:ext cx="237300" cy="314400"/>
          </a:xfrm>
          <a:prstGeom prst="upDownArrow">
            <a:avLst>
              <a:gd fmla="val 50000" name="adj1"/>
              <a:gd fmla="val 50000" name="adj2"/>
            </a:avLst>
          </a:prstGeom>
          <a:solidFill>
            <a:srgbClr val="F9CB9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9"/>
          <p:cNvSpPr/>
          <p:nvPr/>
        </p:nvSpPr>
        <p:spPr>
          <a:xfrm>
            <a:off x="6929850" y="3895424"/>
            <a:ext cx="237300" cy="371400"/>
          </a:xfrm>
          <a:prstGeom prst="upDownArrow">
            <a:avLst>
              <a:gd fmla="val 50000" name="adj1"/>
              <a:gd fmla="val 50000" name="adj2"/>
            </a:avLst>
          </a:prstGeom>
          <a:solidFill>
            <a:srgbClr val="F9CB9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9"/>
          <p:cNvSpPr/>
          <p:nvPr/>
        </p:nvSpPr>
        <p:spPr>
          <a:xfrm>
            <a:off x="222800" y="1695925"/>
            <a:ext cx="6707100" cy="314400"/>
          </a:xfrm>
          <a:prstGeom prst="roundRect">
            <a:avLst>
              <a:gd fmla="val 15217" name="adj"/>
            </a:avLst>
          </a:prstGeom>
          <a:solidFill>
            <a:srgbClr val="2776EA">
              <a:alpha val="1254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i="1" lang="en" sz="1200">
                <a:solidFill>
                  <a:schemeClr val="dk1"/>
                </a:solidFill>
              </a:rPr>
              <a:t>The following features are considered to predict First Time Right in the given priority order:</a:t>
            </a:r>
            <a:endParaRPr i="1" sz="1200">
              <a:solidFill>
                <a:schemeClr val="dk1"/>
              </a:solidFill>
            </a:endParaRPr>
          </a:p>
        </p:txBody>
      </p:sp>
      <p:sp>
        <p:nvSpPr>
          <p:cNvPr id="183" name="Google Shape;183;p19"/>
          <p:cNvSpPr/>
          <p:nvPr/>
        </p:nvSpPr>
        <p:spPr>
          <a:xfrm>
            <a:off x="3153100" y="2014538"/>
            <a:ext cx="237300" cy="265800"/>
          </a:xfrm>
          <a:prstGeom prst="downArrow">
            <a:avLst>
              <a:gd fmla="val 50000" name="adj1"/>
              <a:gd fmla="val 50000" name="adj2"/>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0"/>
          <p:cNvSpPr/>
          <p:nvPr/>
        </p:nvSpPr>
        <p:spPr>
          <a:xfrm>
            <a:off x="2911525" y="1082100"/>
            <a:ext cx="2979300" cy="2979300"/>
          </a:xfrm>
          <a:prstGeom prst="ellipse">
            <a:avLst/>
          </a:prstGeom>
          <a:solidFill>
            <a:srgbClr val="E99B27">
              <a:alpha val="25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20"/>
          <p:cNvSpPr txBox="1"/>
          <p:nvPr/>
        </p:nvSpPr>
        <p:spPr>
          <a:xfrm>
            <a:off x="3426777" y="2312505"/>
            <a:ext cx="1948800" cy="33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latin typeface="Fira Sans Extra Condensed"/>
                <a:ea typeface="Fira Sans Extra Condensed"/>
                <a:cs typeface="Fira Sans Extra Condensed"/>
                <a:sym typeface="Fira Sans Extra Condensed"/>
              </a:rPr>
              <a:t>Thank You</a:t>
            </a:r>
            <a:endParaRPr b="1" sz="2100">
              <a:solidFill>
                <a:srgbClr val="000000"/>
              </a:solidFill>
              <a:latin typeface="Fira Sans Extra Condensed"/>
              <a:ea typeface="Fira Sans Extra Condensed"/>
              <a:cs typeface="Fira Sans Extra Condensed"/>
              <a:sym typeface="Fira Sans Extra Condensed"/>
            </a:endParaRPr>
          </a:p>
        </p:txBody>
      </p:sp>
    </p:spTree>
  </p:cSld>
  <p:clrMapOvr>
    <a:masterClrMapping/>
  </p:clrMapOvr>
</p:sld>
</file>

<file path=ppt/theme/theme1.xml><?xml version="1.0" encoding="utf-8"?>
<a:theme xmlns:a="http://schemas.openxmlformats.org/drawingml/2006/main" xmlns:r="http://schemas.openxmlformats.org/officeDocument/2006/relationships" name="Machine Learning Infographics by Slidesgo">
  <a:themeElements>
    <a:clrScheme name="Simple Light">
      <a:dk1>
        <a:srgbClr val="000000"/>
      </a:dk1>
      <a:lt1>
        <a:srgbClr val="FFFFFF"/>
      </a:lt1>
      <a:dk2>
        <a:srgbClr val="666666"/>
      </a:dk2>
      <a:lt2>
        <a:srgbClr val="D9D9D9"/>
      </a:lt2>
      <a:accent1>
        <a:srgbClr val="E4EA27"/>
      </a:accent1>
      <a:accent2>
        <a:srgbClr val="26EAB8"/>
      </a:accent2>
      <a:accent3>
        <a:srgbClr val="2776EA"/>
      </a:accent3>
      <a:accent4>
        <a:srgbClr val="E99B27"/>
      </a:accent4>
      <a:accent5>
        <a:srgbClr val="EA4827"/>
      </a:accent5>
      <a:accent6>
        <a:srgbClr val="8027EA"/>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